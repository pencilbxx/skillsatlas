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Unemployment rate %</c:v>
                </c:pt>
              </c:strCache>
            </c:strRef>
          </c:tx>
          <c:spPr>
            <a:solidFill>
              <a:srgbClr val="ED6A4A"/>
            </a:solidFill>
            <a:ln w="25400" cap="flat">
              <a:solidFill>
                <a:srgbClr val="ED6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D6A4A"/>
              </a:solidFill>
              <a:ln w="9525" cap="flat">
                <a:solidFill>
                  <a:srgbClr val="ED6A4A"/>
                </a:solidFill>
                <a:prstDash val="solid"/>
                <a:round/>
              </a:ln>
              <a:effectLst/>
            </c:spPr>
          </c:marker>
          <c:cat>
            <c:multiLvlStrRef>
              <c:f>Sheet1!$A$2:$A$8</c:f>
              <c:multiLvlStrCache>
                <c:ptCount val="7"/>
                <c:lvl>
                  <c:pt idx="0">
                    <c:v>Q2 24</c:v>
                  </c:pt>
                  <c:pt idx="1">
                    <c:v>Q1 25</c:v>
                  </c:pt>
                  <c:pt idx="2">
                    <c:v>Q2 25</c:v>
                  </c:pt>
                  <c:pt idx="3">
                    <c:v>Q3 25</c:v>
                  </c:pt>
                  <c:pt idx="4">
                    <c:v>Q4 25</c:v>
                  </c:pt>
                  <c:pt idx="5">
                    <c:v>Q1 26</c:v>
                  </c:pt>
                  <c:pt idx="6">
                    <c:v>Q2 26</c:v>
                  </c:pt>
                </c:lvl>
              </c:multiLvlStrCache>
            </c:multiLvlStrRef>
          </c:cat>
          <c:val>
            <c:numRef>
              <c:f>Sheet1!$B$2:$B$8</c:f>
              <c:numCache>
                <c:formatCode>General</c:formatCode>
                <c:ptCount val="7"/>
                <c:pt idx="0">
                  <c:v>4.6</c:v>
                </c:pt>
                <c:pt idx="1">
                  <c:v>4.3</c:v>
                </c:pt>
                <c:pt idx="2">
                  <c:v>4.8</c:v>
                </c:pt>
                <c:pt idx="3">
                  <c:v>5.3</c:v>
                </c:pt>
                <c:pt idx="4">
                  <c:v>4.4</c:v>
                </c:pt>
                <c:pt idx="5">
                  <c:v>4.9</c:v>
                </c:pt>
                <c:pt idx="6">
                  <c:v>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9606D"/>
                </a:solidFill>
                <a:latin typeface="Manrope"/>
              </a:defRPr>
            </a:pPr>
            <a:endParaRPr lang="en-US"/>
          </a:p>
        </c:txPr>
        <c:crossAx val="2094734552"/>
        <c:crosses val="autoZero"/>
        <c:auto val="1"/>
        <c:lblAlgn val="ctr"/>
        <c:noMultiLvlLbl val="1"/>
      </c:catAx>
      <c:valAx>
        <c:axId val="2094734552"/>
        <c:scaling>
          <c:orientation val="minMax"/>
          <c:max val="5.6"/>
          <c:min val="4"/>
        </c:scaling>
        <c:delete val="0"/>
        <c:axPos val="l"/>
        <c:majorGridlines>
          <c:spPr>
            <a:ln w="9525" cap="flat">
              <a:solidFill>
                <a:srgbClr val="D9CFC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9606D"/>
                </a:solidFill>
                <a:latin typeface="Manrope"/>
              </a:defRPr>
            </a:pPr>
            <a:endParaRPr lang="en-US"/>
          </a:p>
        </c:txPr>
        <c:crossAx val="2094734554"/>
        <c:crosses val="autoZero"/>
        <c:crossBetween val="between"/>
        <c:majorUnit val="0.4"/>
      </c:valAx>
      <c:spPr>
        <a:solidFill>
          <a:srgbClr val="FFFCFA"/>
        </a:solidFill>
        <a:ln>
          <a:noFill/>
        </a:ln>
        <a:effectLst/>
      </c:spPr>
    </c:plotArea>
    <c:plotVisOnly val="1"/>
    <c:dispBlanksAs val="span"/>
  </c:chart>
  <c:spPr>
    <a:solidFill>
      <a:srgbClr val="FFFC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line. SkillsAtlas is for the recruiter or employment adviser already in the room with the worker. One sitting. A credible next role. Then go to what the sitting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sitting turns a person’s own CV into work they can stand over, two honest routes, and one page they can take to an interview. The practice line is proposed — the live click is the prepared Interview Board, not a live AI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AI caused unemployment. Job lists show openings. They do not show how a person reaches one. The chart is CSO LFS: 4.8% a year earlier, 5.1% now. The line is the real quarterly path, including the dip. No 700. No tech-loss headline. No 99% or 55%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sitting. Confirm the evidence. Find the route. Prepare the worker. Nothing guessed reaches the Interview Board. The live demo is still a prepared walk-through, not a live AI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clickable prototype using a prepared practice CV. The production AI pipeline is not live in this demo. Start on Screen 02. Confirm. Two short questions. The person checks the stronger wording. Two unranked routes. They choose. Interview Board. Save as PDF. Talker never holds the mouse.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only. Recruitment partners, employment agencies, and mid-tier HR teams are the proposed buyers. Job seekers are beneficiaries, not a second track. Per-seat, per caseworker, about three to five people a day, is a proposal — not a signed price. Do not name Turas Nua as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have a customer or a price. We had one useful conversation. Frame the two hours as time gained, not time lost, and call it an estimate. The ask is product testing with recruitment firms and employment agencies. Buyer, workflow fit, and price stay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Andrew is team lead and AI product builder. Brigitte is HR consultant. Don is recruiter and spoken story. Sophia is business strategist. Sri Karan is data engineer. Challenge team RedeployMate. We will not pretend we already have a signed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horizon, not what we are showing today. Today is one guided sitting. Next is working with an agency CRM, not replacing it. The marketplace is long term. Do not present Connect / Ask / Close the gap as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Leave this slide up. If they ask: send SkillsAtlas to Galway, then help us test one hosted sitting with a recruitment firm or employment agency. We know what we have built, what is still a guess, and what we need to learn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skillsatlas.vercel.app"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killsatlas.vercel.app" TargetMode="External"/><Relationship Id="rId2" Type="http://schemas.openxmlformats.org/officeDocument/2006/relationships/hyperlink" Target="mailto:andrewshche@gmail.com"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74320"/>
            <a:ext cx="4389120" cy="274320"/>
          </a:xfrm>
          <a:prstGeom prst="rect">
            <a:avLst/>
          </a:prstGeom>
          <a:noFill/>
          <a:ln/>
        </p:spPr>
        <p:txBody>
          <a:bodyPr wrap="square" lIns="0" tIns="0" rIns="0" bIns="0" rtlCol="0" anchor="ctr"/>
          <a:lstStyle/>
          <a:p>
            <a:pPr indent="0" marL="0">
              <a:buNone/>
            </a:pPr>
            <a:r>
              <a:rPr lang="en-US" sz="1500" dirty="0">
                <a:solidFill>
                  <a:srgbClr val="183143"/>
                </a:solidFill>
                <a:latin typeface="DM Serif Display" pitchFamily="34" charset="0"/>
                <a:ea typeface="DM Serif Display" pitchFamily="34" charset="-122"/>
                <a:cs typeface="DM Serif Display" pitchFamily="34" charset="-120"/>
              </a:rPr>
              <a:t>SkillsAtlas</a:t>
            </a:r>
            <a:endParaRPr lang="en-US" sz="1500" dirty="0"/>
          </a:p>
        </p:txBody>
      </p:sp>
      <p:sp>
        <p:nvSpPr>
          <p:cNvPr id="3" name="Text 1"/>
          <p:cNvSpPr/>
          <p:nvPr/>
        </p:nvSpPr>
        <p:spPr>
          <a:xfrm>
            <a:off x="4754880" y="329184"/>
            <a:ext cx="3931920" cy="182880"/>
          </a:xfrm>
          <a:prstGeom prst="rect">
            <a:avLst/>
          </a:prstGeom>
          <a:noFill/>
          <a:ln/>
        </p:spPr>
        <p:txBody>
          <a:bodyPr wrap="square" lIns="0" tIns="0" rIns="0" bIns="0" rtlCol="0" anchor="ctr"/>
          <a:lstStyle/>
          <a:p>
            <a:pPr algn="r" indent="0" marL="0">
              <a:buNone/>
            </a:pPr>
            <a:r>
              <a:rPr lang="en-US" sz="900" b="1" spc="120" kern="0" dirty="0">
                <a:solidFill>
                  <a:srgbClr val="49606D"/>
                </a:solidFill>
                <a:latin typeface="Manrope" pitchFamily="34" charset="0"/>
                <a:ea typeface="Manrope" pitchFamily="34" charset="-122"/>
                <a:cs typeface="Manrope" pitchFamily="34" charset="-120"/>
              </a:rPr>
              <a:t>TECHIRELAND NATIONAL AI CHALLENGE 2026</a:t>
            </a:r>
            <a:endParaRPr lang="en-US" sz="900" dirty="0"/>
          </a:p>
        </p:txBody>
      </p:sp>
      <p:sp>
        <p:nvSpPr>
          <p:cNvPr id="4" name="Shape 2"/>
          <p:cNvSpPr/>
          <p:nvPr/>
        </p:nvSpPr>
        <p:spPr>
          <a:xfrm>
            <a:off x="457200" y="658368"/>
            <a:ext cx="8229600" cy="0"/>
          </a:xfrm>
          <a:prstGeom prst="line">
            <a:avLst/>
          </a:prstGeom>
          <a:noFill/>
          <a:ln w="12700">
            <a:solidFill>
              <a:srgbClr val="D9CFC3"/>
            </a:solidFill>
            <a:prstDash val="solid"/>
          </a:ln>
        </p:spPr>
      </p:sp>
      <p:sp>
        <p:nvSpPr>
          <p:cNvPr id="5" name="Text 3"/>
          <p:cNvSpPr/>
          <p:nvPr/>
        </p:nvSpPr>
        <p:spPr>
          <a:xfrm>
            <a:off x="457200" y="1234440"/>
            <a:ext cx="7863840" cy="2148840"/>
          </a:xfrm>
          <a:prstGeom prst="rect">
            <a:avLst/>
          </a:prstGeom>
          <a:noFill/>
          <a:ln/>
        </p:spPr>
        <p:txBody>
          <a:bodyPr wrap="square" lIns="0" tIns="0" rIns="0" bIns="0" rtlCol="0" anchor="ctr"/>
          <a:lstStyle/>
          <a:p>
            <a:pPr indent="0" marL="0">
              <a:lnSpc>
                <a:spcPct val="108000"/>
              </a:lnSpc>
              <a:buNone/>
            </a:pPr>
            <a:r>
              <a:rPr lang="en-US" sz="2800" dirty="0">
                <a:solidFill>
                  <a:srgbClr val="183143"/>
                </a:solidFill>
                <a:latin typeface="DM Serif Display" pitchFamily="34" charset="0"/>
                <a:ea typeface="DM Serif Display" pitchFamily="34" charset="-122"/>
                <a:cs typeface="DM Serif Display" pitchFamily="34" charset="-120"/>
              </a:rPr>
              <a:t>SkillsAtlas helps recruiters and employment advisers guide workers more efficiently through career disruption to a </a:t>
            </a:r>
            <a:pPr indent="0" marL="0">
              <a:lnSpc>
                <a:spcPct val="108000"/>
              </a:lnSpc>
              <a:buNone/>
            </a:pPr>
            <a:r>
              <a:rPr lang="en-US" sz="2800" i="1" dirty="0">
                <a:solidFill>
                  <a:srgbClr val="ED6A4A"/>
                </a:solidFill>
                <a:latin typeface="DM Serif Display" pitchFamily="34" charset="0"/>
                <a:ea typeface="DM Serif Display" pitchFamily="34" charset="-122"/>
                <a:cs typeface="DM Serif Display" pitchFamily="34" charset="-120"/>
              </a:rPr>
              <a:t>credible next role</a:t>
            </a:r>
            <a:pPr indent="0" marL="0">
              <a:lnSpc>
                <a:spcPct val="108000"/>
              </a:lnSpc>
              <a:buNone/>
            </a:pPr>
            <a:r>
              <a:rPr lang="en-US" sz="2800" dirty="0">
                <a:solidFill>
                  <a:srgbClr val="183143"/>
                </a:solidFill>
                <a:latin typeface="DM Serif Display" pitchFamily="34" charset="0"/>
                <a:ea typeface="DM Serif Display" pitchFamily="34" charset="-122"/>
                <a:cs typeface="DM Serif Display" pitchFamily="34" charset="-120"/>
              </a:rPr>
              <a:t>.</a:t>
            </a:r>
            <a:endParaRPr lang="en-US" sz="2800" dirty="0"/>
          </a:p>
        </p:txBody>
      </p:sp>
      <p:pic>
        <p:nvPicPr>
          <p:cNvPr id="6" name="Image 0" descr="C:\Users\IKARUS\Desktop\CURSOR PROJECTS\skillsatlas_main\scripts\deck\assets\atlas-mark.png">    </p:cNvPr>
          <p:cNvPicPr>
            <a:picLocks noChangeAspect="1"/>
          </p:cNvPicPr>
          <p:nvPr/>
        </p:nvPicPr>
        <p:blipFill>
          <a:blip r:embed="rId1"/>
          <a:stretch>
            <a:fillRect/>
          </a:stretch>
        </p:blipFill>
        <p:spPr>
          <a:xfrm>
            <a:off x="457200" y="4846320"/>
            <a:ext cx="146304" cy="146304"/>
          </a:xfrm>
          <a:prstGeom prst="rect">
            <a:avLst/>
          </a:prstGeom>
        </p:spPr>
      </p:pic>
      <p:sp>
        <p:nvSpPr>
          <p:cNvPr id="7" name="Text 4"/>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8" name="Text 5"/>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74320"/>
            <a:ext cx="5669280" cy="274320"/>
          </a:xfrm>
          <a:prstGeom prst="rect">
            <a:avLst/>
          </a:prstGeom>
          <a:noFill/>
          <a:ln/>
        </p:spPr>
        <p:txBody>
          <a:bodyPr wrap="square" lIns="0" tIns="0" rIns="0" bIns="0" rtlCol="0" anchor="ctr"/>
          <a:lstStyle/>
          <a:p>
            <a:pPr indent="0" marL="0">
              <a:buNone/>
            </a:pPr>
            <a:r>
              <a:rPr lang="en-US" sz="1400" dirty="0">
                <a:solidFill>
                  <a:srgbClr val="183143"/>
                </a:solidFill>
                <a:latin typeface="DM Serif Display" pitchFamily="34" charset="0"/>
                <a:ea typeface="DM Serif Display" pitchFamily="34" charset="-122"/>
                <a:cs typeface="DM Serif Display" pitchFamily="34" charset="-120"/>
              </a:rPr>
              <a:t>SkillsAtlas - AI career-transition guide</a:t>
            </a:r>
            <a:endParaRPr lang="en-US" sz="1400" dirty="0"/>
          </a:p>
        </p:txBody>
      </p:sp>
      <p:sp>
        <p:nvSpPr>
          <p:cNvPr id="3" name="Text 1"/>
          <p:cNvSpPr/>
          <p:nvPr/>
        </p:nvSpPr>
        <p:spPr>
          <a:xfrm>
            <a:off x="5394960" y="329184"/>
            <a:ext cx="3291840" cy="182880"/>
          </a:xfrm>
          <a:prstGeom prst="rect">
            <a:avLst/>
          </a:prstGeom>
          <a:noFill/>
          <a:ln/>
        </p:spPr>
        <p:txBody>
          <a:bodyPr wrap="square" lIns="0" tIns="0" rIns="0" bIns="0" rtlCol="0" anchor="ctr"/>
          <a:lstStyle/>
          <a:p>
            <a:pPr algn="r" indent="0" marL="0">
              <a:buNone/>
            </a:pPr>
            <a:r>
              <a:rPr lang="en-US" sz="800" b="1" spc="80" kern="0" dirty="0">
                <a:solidFill>
                  <a:srgbClr val="49606D"/>
                </a:solidFill>
                <a:latin typeface="Manrope" pitchFamily="34" charset="0"/>
                <a:ea typeface="Manrope" pitchFamily="34" charset="-122"/>
                <a:cs typeface="Manrope" pitchFamily="34" charset="-120"/>
              </a:rPr>
              <a:t>TECHIRELAND NATIONAL AI CHALLENGE 2026</a:t>
            </a:r>
            <a:endParaRPr lang="en-US" sz="800" dirty="0"/>
          </a:p>
        </p:txBody>
      </p:sp>
      <p:sp>
        <p:nvSpPr>
          <p:cNvPr id="4" name="Shape 2"/>
          <p:cNvSpPr/>
          <p:nvPr/>
        </p:nvSpPr>
        <p:spPr>
          <a:xfrm>
            <a:off x="457200" y="658368"/>
            <a:ext cx="8229600" cy="0"/>
          </a:xfrm>
          <a:prstGeom prst="line">
            <a:avLst/>
          </a:prstGeom>
          <a:noFill/>
          <a:ln w="12700">
            <a:solidFill>
              <a:srgbClr val="D9CFC3"/>
            </a:solidFill>
            <a:prstDash val="solid"/>
          </a:ln>
        </p:spPr>
      </p:sp>
      <p:sp>
        <p:nvSpPr>
          <p:cNvPr id="5" name="Text 3"/>
          <p:cNvSpPr/>
          <p:nvPr/>
        </p:nvSpPr>
        <p:spPr>
          <a:xfrm>
            <a:off x="457200" y="877824"/>
            <a:ext cx="8229600" cy="292608"/>
          </a:xfrm>
          <a:prstGeom prst="rect">
            <a:avLst/>
          </a:prstGeom>
          <a:noFill/>
          <a:ln/>
        </p:spPr>
        <p:txBody>
          <a:bodyPr wrap="square" lIns="0" tIns="0" rIns="0" bIns="0" rtlCol="0" anchor="ctr"/>
          <a:lstStyle/>
          <a:p>
            <a:pPr indent="0" marL="0">
              <a:buNone/>
            </a:pPr>
            <a:r>
              <a:rPr lang="en-US" sz="1500" dirty="0">
                <a:solidFill>
                  <a:srgbClr val="49606D"/>
                </a:solidFill>
                <a:latin typeface="Manrope" pitchFamily="34" charset="0"/>
                <a:ea typeface="Manrope" pitchFamily="34" charset="-122"/>
                <a:cs typeface="Manrope" pitchFamily="34" charset="-120"/>
              </a:rPr>
              <a:t>In one supported session, SkillsAtlas:</a:t>
            </a:r>
            <a:endParaRPr lang="en-US" sz="1500" dirty="0"/>
          </a:p>
        </p:txBody>
      </p:sp>
      <p:sp>
        <p:nvSpPr>
          <p:cNvPr id="6" name="Text 4"/>
          <p:cNvSpPr/>
          <p:nvPr/>
        </p:nvSpPr>
        <p:spPr>
          <a:xfrm>
            <a:off x="457200" y="1371600"/>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01</a:t>
            </a:r>
            <a:endParaRPr lang="en-US" sz="1100" dirty="0"/>
          </a:p>
        </p:txBody>
      </p:sp>
      <p:sp>
        <p:nvSpPr>
          <p:cNvPr id="7" name="Shape 5"/>
          <p:cNvSpPr/>
          <p:nvPr/>
        </p:nvSpPr>
        <p:spPr>
          <a:xfrm>
            <a:off x="914400" y="1298448"/>
            <a:ext cx="7772400" cy="0"/>
          </a:xfrm>
          <a:prstGeom prst="line">
            <a:avLst/>
          </a:prstGeom>
          <a:noFill/>
          <a:ln w="12700">
            <a:solidFill>
              <a:srgbClr val="D9CFC3"/>
            </a:solidFill>
            <a:prstDash val="solid"/>
          </a:ln>
        </p:spPr>
      </p:sp>
      <p:sp>
        <p:nvSpPr>
          <p:cNvPr id="8" name="Text 6"/>
          <p:cNvSpPr/>
          <p:nvPr/>
        </p:nvSpPr>
        <p:spPr>
          <a:xfrm>
            <a:off x="960120" y="1353312"/>
            <a:ext cx="7680960" cy="512064"/>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checks what the worker has actually done;</a:t>
            </a:r>
            <a:endParaRPr lang="en-US" sz="1800" dirty="0"/>
          </a:p>
        </p:txBody>
      </p:sp>
      <p:sp>
        <p:nvSpPr>
          <p:cNvPr id="9" name="Text 7"/>
          <p:cNvSpPr/>
          <p:nvPr/>
        </p:nvSpPr>
        <p:spPr>
          <a:xfrm>
            <a:off x="457200" y="1993392"/>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02</a:t>
            </a:r>
            <a:endParaRPr lang="en-US" sz="1100" dirty="0"/>
          </a:p>
        </p:txBody>
      </p:sp>
      <p:sp>
        <p:nvSpPr>
          <p:cNvPr id="10" name="Shape 8"/>
          <p:cNvSpPr/>
          <p:nvPr/>
        </p:nvSpPr>
        <p:spPr>
          <a:xfrm>
            <a:off x="914400" y="1920240"/>
            <a:ext cx="7772400" cy="0"/>
          </a:xfrm>
          <a:prstGeom prst="line">
            <a:avLst/>
          </a:prstGeom>
          <a:noFill/>
          <a:ln w="12700">
            <a:solidFill>
              <a:srgbClr val="D9CFC3"/>
            </a:solidFill>
            <a:prstDash val="solid"/>
          </a:ln>
        </p:spPr>
      </p:sp>
      <p:sp>
        <p:nvSpPr>
          <p:cNvPr id="11" name="Text 9"/>
          <p:cNvSpPr/>
          <p:nvPr/>
        </p:nvSpPr>
        <p:spPr>
          <a:xfrm>
            <a:off x="960120" y="1975104"/>
            <a:ext cx="7680960" cy="512064"/>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turns confirmed experience into evidence;</a:t>
            </a:r>
            <a:endParaRPr lang="en-US" sz="1800" dirty="0"/>
          </a:p>
        </p:txBody>
      </p:sp>
      <p:sp>
        <p:nvSpPr>
          <p:cNvPr id="12" name="Text 10"/>
          <p:cNvSpPr/>
          <p:nvPr/>
        </p:nvSpPr>
        <p:spPr>
          <a:xfrm>
            <a:off x="457200" y="2615184"/>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03</a:t>
            </a:r>
            <a:endParaRPr lang="en-US" sz="1100" dirty="0"/>
          </a:p>
        </p:txBody>
      </p:sp>
      <p:sp>
        <p:nvSpPr>
          <p:cNvPr id="13" name="Shape 11"/>
          <p:cNvSpPr/>
          <p:nvPr/>
        </p:nvSpPr>
        <p:spPr>
          <a:xfrm>
            <a:off x="914400" y="2542032"/>
            <a:ext cx="7772400" cy="0"/>
          </a:xfrm>
          <a:prstGeom prst="line">
            <a:avLst/>
          </a:prstGeom>
          <a:noFill/>
          <a:ln w="12700">
            <a:solidFill>
              <a:srgbClr val="D9CFC3"/>
            </a:solidFill>
            <a:prstDash val="solid"/>
          </a:ln>
        </p:spPr>
      </p:sp>
      <p:sp>
        <p:nvSpPr>
          <p:cNvPr id="14" name="Text 12"/>
          <p:cNvSpPr/>
          <p:nvPr/>
        </p:nvSpPr>
        <p:spPr>
          <a:xfrm>
            <a:off x="960120" y="2596896"/>
            <a:ext cx="7680960" cy="512064"/>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identifies transferable skills and important gaps;</a:t>
            </a:r>
            <a:endParaRPr lang="en-US" sz="1800" dirty="0"/>
          </a:p>
        </p:txBody>
      </p:sp>
      <p:sp>
        <p:nvSpPr>
          <p:cNvPr id="15" name="Text 13"/>
          <p:cNvSpPr/>
          <p:nvPr/>
        </p:nvSpPr>
        <p:spPr>
          <a:xfrm>
            <a:off x="457200" y="3236976"/>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04</a:t>
            </a:r>
            <a:endParaRPr lang="en-US" sz="1100" dirty="0"/>
          </a:p>
        </p:txBody>
      </p:sp>
      <p:sp>
        <p:nvSpPr>
          <p:cNvPr id="16" name="Shape 14"/>
          <p:cNvSpPr/>
          <p:nvPr/>
        </p:nvSpPr>
        <p:spPr>
          <a:xfrm>
            <a:off x="914400" y="3163824"/>
            <a:ext cx="7772400" cy="0"/>
          </a:xfrm>
          <a:prstGeom prst="line">
            <a:avLst/>
          </a:prstGeom>
          <a:noFill/>
          <a:ln w="12700">
            <a:solidFill>
              <a:srgbClr val="D9CFC3"/>
            </a:solidFill>
            <a:prstDash val="solid"/>
          </a:ln>
        </p:spPr>
      </p:sp>
      <p:sp>
        <p:nvSpPr>
          <p:cNvPr id="17" name="Text 15"/>
          <p:cNvSpPr/>
          <p:nvPr/>
        </p:nvSpPr>
        <p:spPr>
          <a:xfrm>
            <a:off x="960120" y="3218688"/>
            <a:ext cx="7680960" cy="512064"/>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shows two credible next-role options;</a:t>
            </a:r>
            <a:endParaRPr lang="en-US" sz="1800" dirty="0"/>
          </a:p>
        </p:txBody>
      </p:sp>
      <p:sp>
        <p:nvSpPr>
          <p:cNvPr id="18" name="Text 16"/>
          <p:cNvSpPr/>
          <p:nvPr/>
        </p:nvSpPr>
        <p:spPr>
          <a:xfrm>
            <a:off x="457200" y="3858768"/>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05</a:t>
            </a:r>
            <a:endParaRPr lang="en-US" sz="1100" dirty="0"/>
          </a:p>
        </p:txBody>
      </p:sp>
      <p:sp>
        <p:nvSpPr>
          <p:cNvPr id="19" name="Shape 17"/>
          <p:cNvSpPr/>
          <p:nvPr/>
        </p:nvSpPr>
        <p:spPr>
          <a:xfrm>
            <a:off x="914400" y="3785616"/>
            <a:ext cx="7772400" cy="0"/>
          </a:xfrm>
          <a:prstGeom prst="line">
            <a:avLst/>
          </a:prstGeom>
          <a:noFill/>
          <a:ln w="12700">
            <a:solidFill>
              <a:srgbClr val="D9CFC3"/>
            </a:solidFill>
            <a:prstDash val="solid"/>
          </a:ln>
        </p:spPr>
      </p:sp>
      <p:sp>
        <p:nvSpPr>
          <p:cNvPr id="20" name="Text 18"/>
          <p:cNvSpPr/>
          <p:nvPr/>
        </p:nvSpPr>
        <p:spPr>
          <a:xfrm>
            <a:off x="960120" y="3840480"/>
            <a:ext cx="7680960" cy="512064"/>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creates an </a:t>
            </a:r>
            <a:pPr indent="0" marL="0">
              <a:buNone/>
            </a:pPr>
            <a:r>
              <a:rPr lang="en-US" sz="1800" i="1" dirty="0">
                <a:solidFill>
                  <a:srgbClr val="ED6A4A"/>
                </a:solidFill>
                <a:latin typeface="DM Serif Display" pitchFamily="34" charset="0"/>
                <a:ea typeface="DM Serif Display" pitchFamily="34" charset="-122"/>
                <a:cs typeface="DM Serif Display" pitchFamily="34" charset="-120"/>
              </a:rPr>
              <a:t>Interview Board</a:t>
            </a:r>
            <a:pPr indent="0" marL="0">
              <a:buNone/>
            </a:pPr>
            <a:r>
              <a:rPr lang="en-US" sz="1800" dirty="0">
                <a:solidFill>
                  <a:srgbClr val="183143"/>
                </a:solidFill>
                <a:latin typeface="DM Serif Display" pitchFamily="34" charset="0"/>
                <a:ea typeface="DM Serif Display" pitchFamily="34" charset="-122"/>
                <a:cs typeface="DM Serif Display" pitchFamily="34" charset="-120"/>
              </a:rPr>
              <a:t> and helps the worker practise their story.</a:t>
            </a:r>
            <a:endParaRPr lang="en-US" sz="1800" dirty="0"/>
          </a:p>
        </p:txBody>
      </p:sp>
      <p:sp>
        <p:nvSpPr>
          <p:cNvPr id="21" name="Shape 19"/>
          <p:cNvSpPr/>
          <p:nvPr/>
        </p:nvSpPr>
        <p:spPr>
          <a:xfrm>
            <a:off x="914400" y="4407408"/>
            <a:ext cx="7772400" cy="0"/>
          </a:xfrm>
          <a:prstGeom prst="line">
            <a:avLst/>
          </a:prstGeom>
          <a:noFill/>
          <a:ln w="12700">
            <a:solidFill>
              <a:srgbClr val="D9CFC3"/>
            </a:solidFill>
            <a:prstDash val="solid"/>
          </a:ln>
        </p:spPr>
      </p:sp>
      <p:pic>
        <p:nvPicPr>
          <p:cNvPr id="22" name="Image 0" descr="C:\Users\IKARUS\Desktop\CURSOR PROJECTS\skillsatlas_main\scripts\deck\assets\atlas-mark.png">    </p:cNvPr>
          <p:cNvPicPr>
            <a:picLocks noChangeAspect="1"/>
          </p:cNvPicPr>
          <p:nvPr/>
        </p:nvPicPr>
        <p:blipFill>
          <a:blip r:embed="rId1"/>
          <a:stretch>
            <a:fillRect/>
          </a:stretch>
        </p:blipFill>
        <p:spPr>
          <a:xfrm>
            <a:off x="457200" y="4846320"/>
            <a:ext cx="146304" cy="146304"/>
          </a:xfrm>
          <a:prstGeom prst="rect">
            <a:avLst/>
          </a:prstGeom>
        </p:spPr>
      </p:pic>
      <p:sp>
        <p:nvSpPr>
          <p:cNvPr id="23" name="Text 20"/>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4" name="Text 21"/>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37744"/>
            <a:ext cx="8229600" cy="164592"/>
          </a:xfrm>
          <a:prstGeom prst="rect">
            <a:avLst/>
          </a:prstGeom>
          <a:noFill/>
          <a:ln/>
        </p:spPr>
        <p:txBody>
          <a:bodyPr wrap="square" lIns="0" tIns="0" rIns="0" bIns="0" rtlCol="0" anchor="ctr"/>
          <a:lstStyle/>
          <a:p>
            <a:pPr indent="0" marL="0">
              <a:buNone/>
            </a:pPr>
            <a:r>
              <a:rPr lang="en-US" sz="1000" b="1" spc="240" kern="0" dirty="0">
                <a:solidFill>
                  <a:srgbClr val="1E5D5E"/>
                </a:solidFill>
                <a:latin typeface="Manrope" pitchFamily="34" charset="0"/>
                <a:ea typeface="Manrope" pitchFamily="34" charset="-122"/>
                <a:cs typeface="Manrope" pitchFamily="34" charset="-120"/>
              </a:rPr>
              <a:t>THE PROBLEM</a:t>
            </a:r>
            <a:endParaRPr lang="en-US" sz="1000" dirty="0"/>
          </a:p>
        </p:txBody>
      </p:sp>
      <p:sp>
        <p:nvSpPr>
          <p:cNvPr id="3" name="Shape 1"/>
          <p:cNvSpPr/>
          <p:nvPr/>
        </p:nvSpPr>
        <p:spPr>
          <a:xfrm>
            <a:off x="457200" y="438912"/>
            <a:ext cx="8229600" cy="0"/>
          </a:xfrm>
          <a:prstGeom prst="line">
            <a:avLst/>
          </a:prstGeom>
          <a:noFill/>
          <a:ln w="12700">
            <a:solidFill>
              <a:srgbClr val="D9CFC3"/>
            </a:solidFill>
            <a:prstDash val="solid"/>
          </a:ln>
        </p:spPr>
      </p:sp>
      <p:sp>
        <p:nvSpPr>
          <p:cNvPr id="4" name="Text 2"/>
          <p:cNvSpPr/>
          <p:nvPr/>
        </p:nvSpPr>
        <p:spPr>
          <a:xfrm>
            <a:off x="457200" y="493776"/>
            <a:ext cx="8229600" cy="530352"/>
          </a:xfrm>
          <a:prstGeom prst="rect">
            <a:avLst/>
          </a:prstGeom>
          <a:noFill/>
          <a:ln/>
        </p:spPr>
        <p:txBody>
          <a:bodyPr wrap="square" lIns="0" tIns="0" rIns="0" bIns="0" rtlCol="0" anchor="ctr"/>
          <a:lstStyle/>
          <a:p>
            <a:pPr indent="0" marL="0">
              <a:lnSpc>
                <a:spcPct val="104000"/>
              </a:lnSpc>
              <a:buNone/>
            </a:pPr>
            <a:r>
              <a:rPr lang="en-US" sz="2600" dirty="0">
                <a:solidFill>
                  <a:srgbClr val="183143"/>
                </a:solidFill>
                <a:latin typeface="DM Serif Display" pitchFamily="34" charset="0"/>
                <a:ea typeface="DM Serif Display" pitchFamily="34" charset="-122"/>
                <a:cs typeface="DM Serif Display" pitchFamily="34" charset="-120"/>
              </a:rPr>
              <a:t>Job lists show openings—not how to reach them</a:t>
            </a:r>
            <a:endParaRPr lang="en-US" sz="2600" dirty="0"/>
          </a:p>
        </p:txBody>
      </p:sp>
      <p:sp>
        <p:nvSpPr>
          <p:cNvPr id="5" name="Shape 3"/>
          <p:cNvSpPr/>
          <p:nvPr/>
        </p:nvSpPr>
        <p:spPr>
          <a:xfrm>
            <a:off x="457200" y="1261872"/>
            <a:ext cx="91440" cy="91440"/>
          </a:xfrm>
          <a:prstGeom prst="ellipse">
            <a:avLst/>
          </a:prstGeom>
          <a:solidFill>
            <a:srgbClr val="ED6A4A"/>
          </a:solidFill>
          <a:ln w="12700">
            <a:solidFill>
              <a:srgbClr val="ED6A4A"/>
            </a:solidFill>
            <a:prstDash val="solid"/>
          </a:ln>
        </p:spPr>
      </p:sp>
      <p:sp>
        <p:nvSpPr>
          <p:cNvPr id="6" name="Text 4"/>
          <p:cNvSpPr/>
          <p:nvPr/>
        </p:nvSpPr>
        <p:spPr>
          <a:xfrm>
            <a:off x="676656" y="1170432"/>
            <a:ext cx="4160520" cy="512064"/>
          </a:xfrm>
          <a:prstGeom prst="rect">
            <a:avLst/>
          </a:prstGeom>
          <a:noFill/>
          <a:ln/>
        </p:spPr>
        <p:txBody>
          <a:bodyPr wrap="square" lIns="0" tIns="0" rIns="0" bIns="0" rtlCol="0" anchor="ctr"/>
          <a:lstStyle/>
          <a:p>
            <a:pPr indent="0" marL="0">
              <a:lnSpc>
                <a:spcPct val="112000"/>
              </a:lnSpc>
              <a:buNone/>
            </a:pPr>
            <a:r>
              <a:rPr lang="en-US" sz="1400" dirty="0">
                <a:solidFill>
                  <a:srgbClr val="183143"/>
                </a:solidFill>
                <a:latin typeface="Manrope" pitchFamily="34" charset="0"/>
                <a:ea typeface="Manrope" pitchFamily="34" charset="-122"/>
                <a:cs typeface="Manrope" pitchFamily="34" charset="-120"/>
              </a:rPr>
              <a:t>Workers scroll through endless job lists.</a:t>
            </a:r>
            <a:endParaRPr lang="en-US" sz="1400" dirty="0"/>
          </a:p>
        </p:txBody>
      </p:sp>
      <p:sp>
        <p:nvSpPr>
          <p:cNvPr id="7" name="Shape 5"/>
          <p:cNvSpPr/>
          <p:nvPr/>
        </p:nvSpPr>
        <p:spPr>
          <a:xfrm>
            <a:off x="457200" y="1792224"/>
            <a:ext cx="91440" cy="91440"/>
          </a:xfrm>
          <a:prstGeom prst="ellipse">
            <a:avLst/>
          </a:prstGeom>
          <a:solidFill>
            <a:srgbClr val="ED6A4A"/>
          </a:solidFill>
          <a:ln w="12700">
            <a:solidFill>
              <a:srgbClr val="ED6A4A"/>
            </a:solidFill>
            <a:prstDash val="solid"/>
          </a:ln>
        </p:spPr>
      </p:sp>
      <p:sp>
        <p:nvSpPr>
          <p:cNvPr id="8" name="Text 6"/>
          <p:cNvSpPr/>
          <p:nvPr/>
        </p:nvSpPr>
        <p:spPr>
          <a:xfrm>
            <a:off x="676656" y="1700784"/>
            <a:ext cx="4160520" cy="512064"/>
          </a:xfrm>
          <a:prstGeom prst="rect">
            <a:avLst/>
          </a:prstGeom>
          <a:noFill/>
          <a:ln/>
        </p:spPr>
        <p:txBody>
          <a:bodyPr wrap="square" lIns="0" tIns="0" rIns="0" bIns="0" rtlCol="0" anchor="ctr"/>
          <a:lstStyle/>
          <a:p>
            <a:pPr indent="0" marL="0">
              <a:lnSpc>
                <a:spcPct val="112000"/>
              </a:lnSpc>
              <a:buNone/>
            </a:pPr>
            <a:r>
              <a:rPr lang="en-US" sz="1400" dirty="0">
                <a:solidFill>
                  <a:srgbClr val="183143"/>
                </a:solidFill>
                <a:latin typeface="Manrope" pitchFamily="34" charset="0"/>
                <a:ea typeface="Manrope" pitchFamily="34" charset="-122"/>
                <a:cs typeface="Manrope" pitchFamily="34" charset="-120"/>
              </a:rPr>
              <a:t>They cannot easily see how their experience connects to a realistic next role.</a:t>
            </a:r>
            <a:endParaRPr lang="en-US" sz="1400" dirty="0"/>
          </a:p>
        </p:txBody>
      </p:sp>
      <p:sp>
        <p:nvSpPr>
          <p:cNvPr id="9" name="Shape 7"/>
          <p:cNvSpPr/>
          <p:nvPr/>
        </p:nvSpPr>
        <p:spPr>
          <a:xfrm>
            <a:off x="457200" y="2322576"/>
            <a:ext cx="91440" cy="91440"/>
          </a:xfrm>
          <a:prstGeom prst="ellipse">
            <a:avLst/>
          </a:prstGeom>
          <a:solidFill>
            <a:srgbClr val="ED6A4A"/>
          </a:solidFill>
          <a:ln w="12700">
            <a:solidFill>
              <a:srgbClr val="ED6A4A"/>
            </a:solidFill>
            <a:prstDash val="solid"/>
          </a:ln>
        </p:spPr>
      </p:sp>
      <p:sp>
        <p:nvSpPr>
          <p:cNvPr id="10" name="Text 8"/>
          <p:cNvSpPr/>
          <p:nvPr/>
        </p:nvSpPr>
        <p:spPr>
          <a:xfrm>
            <a:off x="676656" y="2231136"/>
            <a:ext cx="4160520" cy="512064"/>
          </a:xfrm>
          <a:prstGeom prst="rect">
            <a:avLst/>
          </a:prstGeom>
          <a:noFill/>
          <a:ln/>
        </p:spPr>
        <p:txBody>
          <a:bodyPr wrap="square" lIns="0" tIns="0" rIns="0" bIns="0" rtlCol="0" anchor="ctr"/>
          <a:lstStyle/>
          <a:p>
            <a:pPr indent="0" marL="0">
              <a:lnSpc>
                <a:spcPct val="112000"/>
              </a:lnSpc>
              <a:buNone/>
            </a:pPr>
            <a:r>
              <a:rPr lang="en-US" sz="1400" dirty="0">
                <a:solidFill>
                  <a:srgbClr val="183143"/>
                </a:solidFill>
                <a:latin typeface="Manrope" pitchFamily="34" charset="0"/>
                <a:ea typeface="Manrope" pitchFamily="34" charset="-122"/>
                <a:cs typeface="Manrope" pitchFamily="34" charset="-120"/>
              </a:rPr>
              <a:t>Job titles often hide valuable transferable skills.</a:t>
            </a:r>
            <a:endParaRPr lang="en-US" sz="1400" dirty="0"/>
          </a:p>
        </p:txBody>
      </p:sp>
      <p:sp>
        <p:nvSpPr>
          <p:cNvPr id="11" name="Text 9"/>
          <p:cNvSpPr/>
          <p:nvPr/>
        </p:nvSpPr>
        <p:spPr>
          <a:xfrm>
            <a:off x="457200" y="2798064"/>
            <a:ext cx="4389120" cy="256032"/>
          </a:xfrm>
          <a:prstGeom prst="rect">
            <a:avLst/>
          </a:prstGeom>
          <a:noFill/>
          <a:ln/>
        </p:spPr>
        <p:txBody>
          <a:bodyPr wrap="square" lIns="0" tIns="0" rIns="0" bIns="0" rtlCol="0" anchor="ctr"/>
          <a:lstStyle/>
          <a:p>
            <a:pPr indent="0" marL="0">
              <a:buNone/>
            </a:pPr>
            <a:r>
              <a:rPr lang="en-US" sz="1500" dirty="0">
                <a:solidFill>
                  <a:srgbClr val="1E5D5E"/>
                </a:solidFill>
                <a:latin typeface="DM Serif Display" pitchFamily="34" charset="0"/>
                <a:ea typeface="DM Serif Display" pitchFamily="34" charset="-122"/>
                <a:cs typeface="DM Serif Display" pitchFamily="34" charset="-120"/>
              </a:rPr>
              <a:t>The missing step may be small:</a:t>
            </a:r>
            <a:endParaRPr lang="en-US" sz="1500" dirty="0"/>
          </a:p>
        </p:txBody>
      </p:sp>
      <p:sp>
        <p:nvSpPr>
          <p:cNvPr id="12" name="Text 10"/>
          <p:cNvSpPr/>
          <p:nvPr/>
        </p:nvSpPr>
        <p:spPr>
          <a:xfrm>
            <a:off x="457200" y="3090672"/>
            <a:ext cx="4389120" cy="310896"/>
          </a:xfrm>
          <a:prstGeom prst="rect">
            <a:avLst/>
          </a:prstGeom>
          <a:noFill/>
          <a:ln/>
        </p:spPr>
        <p:txBody>
          <a:bodyPr wrap="square" lIns="0" tIns="0" rIns="0" bIns="0" rtlCol="0" anchor="ctr"/>
          <a:lstStyle/>
          <a:p>
            <a:pPr indent="0" marL="0">
              <a:buNone/>
            </a:pPr>
            <a:r>
              <a:rPr lang="en-US" sz="1400" dirty="0">
                <a:solidFill>
                  <a:srgbClr val="183143"/>
                </a:solidFill>
                <a:latin typeface="DM Serif Display" pitchFamily="34" charset="0"/>
                <a:ea typeface="DM Serif Display" pitchFamily="34" charset="-122"/>
                <a:cs typeface="DM Serif Display" pitchFamily="34" charset="-120"/>
              </a:rPr>
              <a:t>recognising an existing strength;</a:t>
            </a:r>
            <a:endParaRPr lang="en-US" sz="1400" dirty="0"/>
          </a:p>
        </p:txBody>
      </p:sp>
      <p:sp>
        <p:nvSpPr>
          <p:cNvPr id="13" name="Text 11"/>
          <p:cNvSpPr/>
          <p:nvPr/>
        </p:nvSpPr>
        <p:spPr>
          <a:xfrm>
            <a:off x="457200" y="3419856"/>
            <a:ext cx="4389120" cy="310896"/>
          </a:xfrm>
          <a:prstGeom prst="rect">
            <a:avLst/>
          </a:prstGeom>
          <a:noFill/>
          <a:ln/>
        </p:spPr>
        <p:txBody>
          <a:bodyPr wrap="square" lIns="0" tIns="0" rIns="0" bIns="0" rtlCol="0" anchor="ctr"/>
          <a:lstStyle/>
          <a:p>
            <a:pPr indent="0" marL="0">
              <a:buNone/>
            </a:pPr>
            <a:r>
              <a:rPr lang="en-US" sz="1400" dirty="0">
                <a:solidFill>
                  <a:srgbClr val="183143"/>
                </a:solidFill>
                <a:latin typeface="DM Serif Display" pitchFamily="34" charset="0"/>
                <a:ea typeface="DM Serif Display" pitchFamily="34" charset="-122"/>
                <a:cs typeface="DM Serif Display" pitchFamily="34" charset="-120"/>
              </a:rPr>
              <a:t>learning one additional skill; or</a:t>
            </a:r>
            <a:endParaRPr lang="en-US" sz="1400" dirty="0"/>
          </a:p>
        </p:txBody>
      </p:sp>
      <p:sp>
        <p:nvSpPr>
          <p:cNvPr id="14" name="Text 12"/>
          <p:cNvSpPr/>
          <p:nvPr/>
        </p:nvSpPr>
        <p:spPr>
          <a:xfrm>
            <a:off x="457200" y="3749040"/>
            <a:ext cx="4389120" cy="310896"/>
          </a:xfrm>
          <a:prstGeom prst="rect">
            <a:avLst/>
          </a:prstGeom>
          <a:noFill/>
          <a:ln/>
        </p:spPr>
        <p:txBody>
          <a:bodyPr wrap="square" lIns="0" tIns="0" rIns="0" bIns="0" rtlCol="0" anchor="ctr"/>
          <a:lstStyle/>
          <a:p>
            <a:pPr indent="0" marL="0">
              <a:buNone/>
            </a:pPr>
            <a:r>
              <a:rPr lang="en-US" sz="1400" dirty="0">
                <a:solidFill>
                  <a:srgbClr val="183143"/>
                </a:solidFill>
                <a:latin typeface="DM Serif Display" pitchFamily="34" charset="0"/>
                <a:ea typeface="DM Serif Display" pitchFamily="34" charset="-122"/>
                <a:cs typeface="DM Serif Display" pitchFamily="34" charset="-120"/>
              </a:rPr>
              <a:t>completing one relevant course.</a:t>
            </a:r>
            <a:endParaRPr lang="en-US" sz="1400" dirty="0"/>
          </a:p>
        </p:txBody>
      </p:sp>
      <p:sp>
        <p:nvSpPr>
          <p:cNvPr id="15" name="Shape 13"/>
          <p:cNvSpPr/>
          <p:nvPr/>
        </p:nvSpPr>
        <p:spPr>
          <a:xfrm>
            <a:off x="5074920" y="1152144"/>
            <a:ext cx="3611880" cy="3310128"/>
          </a:xfrm>
          <a:prstGeom prst="roundRect">
            <a:avLst>
              <a:gd name="adj" fmla="val 1381"/>
            </a:avLst>
          </a:prstGeom>
          <a:solidFill>
            <a:srgbClr val="FFFCFA"/>
          </a:solidFill>
          <a:ln w="12700">
            <a:solidFill>
              <a:srgbClr val="D9CFC3"/>
            </a:solidFill>
            <a:prstDash val="solid"/>
          </a:ln>
        </p:spPr>
      </p:sp>
      <p:sp>
        <p:nvSpPr>
          <p:cNvPr id="16" name="Text 14"/>
          <p:cNvSpPr/>
          <p:nvPr/>
        </p:nvSpPr>
        <p:spPr>
          <a:xfrm>
            <a:off x="5248656" y="1261872"/>
            <a:ext cx="3291840" cy="164592"/>
          </a:xfrm>
          <a:prstGeom prst="rect">
            <a:avLst/>
          </a:prstGeom>
          <a:noFill/>
          <a:ln/>
        </p:spPr>
        <p:txBody>
          <a:bodyPr wrap="square" lIns="0" tIns="0" rIns="0" bIns="0" rtlCol="0" anchor="ctr"/>
          <a:lstStyle/>
          <a:p>
            <a:pPr indent="0" marL="0">
              <a:buNone/>
            </a:pPr>
            <a:r>
              <a:rPr lang="en-US" sz="1050" b="1" spc="140" kern="0" dirty="0">
                <a:solidFill>
                  <a:srgbClr val="49606D"/>
                </a:solidFill>
                <a:latin typeface="Manrope" pitchFamily="34" charset="0"/>
                <a:ea typeface="Manrope" pitchFamily="34" charset="-122"/>
                <a:cs typeface="Manrope" pitchFamily="34" charset="-120"/>
              </a:rPr>
              <a:t>IRELAND UNEMPLOYMENT</a:t>
            </a:r>
            <a:endParaRPr lang="en-US" sz="1050" dirty="0"/>
          </a:p>
        </p:txBody>
      </p:sp>
      <p:sp>
        <p:nvSpPr>
          <p:cNvPr id="17" name="Text 15"/>
          <p:cNvSpPr/>
          <p:nvPr/>
        </p:nvSpPr>
        <p:spPr>
          <a:xfrm>
            <a:off x="5248656" y="1444752"/>
            <a:ext cx="3291840" cy="384048"/>
          </a:xfrm>
          <a:prstGeom prst="rect">
            <a:avLst/>
          </a:prstGeom>
          <a:noFill/>
          <a:ln/>
        </p:spPr>
        <p:txBody>
          <a:bodyPr wrap="square" lIns="0" tIns="0" rIns="0" bIns="0" rtlCol="0" anchor="ctr"/>
          <a:lstStyle/>
          <a:p>
            <a:pPr indent="0" marL="0">
              <a:buNone/>
            </a:pPr>
            <a:r>
              <a:rPr lang="en-US" sz="2800" dirty="0">
                <a:solidFill>
                  <a:srgbClr val="49606D"/>
                </a:solidFill>
                <a:latin typeface="DM Serif Display" pitchFamily="34" charset="0"/>
                <a:ea typeface="DM Serif Display" pitchFamily="34" charset="-122"/>
                <a:cs typeface="DM Serif Display" pitchFamily="34" charset="-120"/>
              </a:rPr>
              <a:t>4.8%</a:t>
            </a:r>
            <a:pPr indent="0" marL="0">
              <a:buNone/>
            </a:pPr>
            <a:r>
              <a:rPr lang="en-US" sz="1600" dirty="0">
                <a:solidFill>
                  <a:srgbClr val="49606D"/>
                </a:solidFill>
                <a:latin typeface="Manrope" pitchFamily="34" charset="0"/>
                <a:ea typeface="Manrope" pitchFamily="34" charset="-122"/>
                <a:cs typeface="Manrope" pitchFamily="34" charset="-120"/>
              </a:rPr>
              <a:t>  →  </a:t>
            </a:r>
            <a:pPr indent="0" marL="0">
              <a:buNone/>
            </a:pPr>
            <a:r>
              <a:rPr lang="en-US" sz="2800" dirty="0">
                <a:solidFill>
                  <a:srgbClr val="ED6A4A"/>
                </a:solidFill>
                <a:latin typeface="DM Serif Display" pitchFamily="34" charset="0"/>
                <a:ea typeface="DM Serif Display" pitchFamily="34" charset="-122"/>
                <a:cs typeface="DM Serif Display" pitchFamily="34" charset="-120"/>
              </a:rPr>
              <a:t>5.1%</a:t>
            </a:r>
            <a:endParaRPr lang="en-US" sz="2800" dirty="0"/>
          </a:p>
        </p:txBody>
      </p:sp>
      <p:graphicFrame>
        <p:nvGraphicFramePr>
          <p:cNvPr id="18" name="Chart 0" descr=""/>
          <p:cNvGraphicFramePr/>
          <p:nvPr/>
        </p:nvGraphicFramePr>
        <p:xfrm>
          <a:off x="5102352" y="1865376"/>
          <a:ext cx="3547872" cy="2176272"/>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5248656" y="4114800"/>
            <a:ext cx="3291840" cy="219456"/>
          </a:xfrm>
          <a:prstGeom prst="rect">
            <a:avLst/>
          </a:prstGeom>
          <a:noFill/>
          <a:ln/>
        </p:spPr>
        <p:txBody>
          <a:bodyPr wrap="square" lIns="0" tIns="0" rIns="0" bIns="0" rtlCol="0" anchor="ctr"/>
          <a:lstStyle/>
          <a:p>
            <a:pPr indent="0" marL="0">
              <a:buNone/>
            </a:pPr>
            <a:r>
              <a:rPr lang="en-US" sz="900" spc="60" kern="0" dirty="0">
                <a:solidFill>
                  <a:srgbClr val="49606D"/>
                </a:solidFill>
                <a:latin typeface="Manrope" pitchFamily="34" charset="0"/>
                <a:ea typeface="Manrope" pitchFamily="34" charset="-122"/>
                <a:cs typeface="Manrope" pitchFamily="34" charset="-120"/>
              </a:rPr>
              <a:t>CSO LFS  ·  up from 4.8% a year earlier</a:t>
            </a:r>
            <a:endParaRPr lang="en-US" sz="900" dirty="0"/>
          </a:p>
        </p:txBody>
      </p:sp>
      <p:pic>
        <p:nvPicPr>
          <p:cNvPr id="20" name="Image 0" descr="C:\Users\IKARUS\Desktop\CURSOR PROJECTS\skillsatlas_main\scripts\deck\assets\atlas-mark.png">    </p:cNvPr>
          <p:cNvPicPr>
            <a:picLocks noChangeAspect="1"/>
          </p:cNvPicPr>
          <p:nvPr/>
        </p:nvPicPr>
        <p:blipFill>
          <a:blip r:embed="rId2"/>
          <a:stretch>
            <a:fillRect/>
          </a:stretch>
        </p:blipFill>
        <p:spPr>
          <a:xfrm>
            <a:off x="457200" y="4846320"/>
            <a:ext cx="146304" cy="146304"/>
          </a:xfrm>
          <a:prstGeom prst="rect">
            <a:avLst/>
          </a:prstGeom>
        </p:spPr>
      </p:pic>
      <p:sp>
        <p:nvSpPr>
          <p:cNvPr id="21" name="Text 17"/>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2" name="Text 18"/>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37744"/>
            <a:ext cx="8229600" cy="164592"/>
          </a:xfrm>
          <a:prstGeom prst="rect">
            <a:avLst/>
          </a:prstGeom>
          <a:noFill/>
          <a:ln/>
        </p:spPr>
        <p:txBody>
          <a:bodyPr wrap="square" lIns="0" tIns="0" rIns="0" bIns="0" rtlCol="0" anchor="ctr"/>
          <a:lstStyle/>
          <a:p>
            <a:pPr indent="0" marL="0">
              <a:buNone/>
            </a:pPr>
            <a:r>
              <a:rPr lang="en-US" sz="1000" b="1" spc="240" kern="0" dirty="0">
                <a:solidFill>
                  <a:srgbClr val="1E5D5E"/>
                </a:solidFill>
                <a:latin typeface="Manrope" pitchFamily="34" charset="0"/>
                <a:ea typeface="Manrope" pitchFamily="34" charset="-122"/>
                <a:cs typeface="Manrope" pitchFamily="34" charset="-120"/>
              </a:rPr>
              <a:t>THE SOLUTION</a:t>
            </a:r>
            <a:endParaRPr lang="en-US" sz="1000" dirty="0"/>
          </a:p>
        </p:txBody>
      </p:sp>
      <p:sp>
        <p:nvSpPr>
          <p:cNvPr id="3" name="Shape 1"/>
          <p:cNvSpPr/>
          <p:nvPr/>
        </p:nvSpPr>
        <p:spPr>
          <a:xfrm>
            <a:off x="457200" y="438912"/>
            <a:ext cx="8229600" cy="0"/>
          </a:xfrm>
          <a:prstGeom prst="line">
            <a:avLst/>
          </a:prstGeom>
          <a:noFill/>
          <a:ln w="12700">
            <a:solidFill>
              <a:srgbClr val="D9CFC3"/>
            </a:solidFill>
            <a:prstDash val="solid"/>
          </a:ln>
        </p:spPr>
      </p:sp>
      <p:sp>
        <p:nvSpPr>
          <p:cNvPr id="4" name="Text 2"/>
          <p:cNvSpPr/>
          <p:nvPr/>
        </p:nvSpPr>
        <p:spPr>
          <a:xfrm>
            <a:off x="457200" y="493776"/>
            <a:ext cx="8229600" cy="438912"/>
          </a:xfrm>
          <a:prstGeom prst="rect">
            <a:avLst/>
          </a:prstGeom>
          <a:noFill/>
          <a:ln/>
        </p:spPr>
        <p:txBody>
          <a:bodyPr wrap="square" lIns="0" tIns="0" rIns="0" bIns="0" rtlCol="0" anchor="ctr"/>
          <a:lstStyle/>
          <a:p>
            <a:pPr indent="0" marL="0">
              <a:lnSpc>
                <a:spcPct val="104000"/>
              </a:lnSpc>
              <a:buNone/>
            </a:pPr>
            <a:r>
              <a:rPr lang="en-US" sz="2600" dirty="0">
                <a:solidFill>
                  <a:srgbClr val="183143"/>
                </a:solidFill>
                <a:latin typeface="DM Serif Display" pitchFamily="34" charset="0"/>
                <a:ea typeface="DM Serif Display" pitchFamily="34" charset="-122"/>
                <a:cs typeface="DM Serif Display" pitchFamily="34" charset="-120"/>
              </a:rPr>
              <a:t>One guided sitting. A clearer route forward.</a:t>
            </a:r>
            <a:endParaRPr lang="en-US" sz="2600" dirty="0"/>
          </a:p>
        </p:txBody>
      </p:sp>
      <p:sp>
        <p:nvSpPr>
          <p:cNvPr id="5" name="Text 3"/>
          <p:cNvSpPr/>
          <p:nvPr/>
        </p:nvSpPr>
        <p:spPr>
          <a:xfrm>
            <a:off x="457200" y="1005840"/>
            <a:ext cx="8229600" cy="274320"/>
          </a:xfrm>
          <a:prstGeom prst="rect">
            <a:avLst/>
          </a:prstGeom>
          <a:noFill/>
          <a:ln/>
        </p:spPr>
        <p:txBody>
          <a:bodyPr wrap="square" lIns="0" tIns="0" rIns="0" bIns="0" rtlCol="0" anchor="ctr"/>
          <a:lstStyle/>
          <a:p>
            <a:pPr indent="0" marL="0">
              <a:buNone/>
            </a:pPr>
            <a:r>
              <a:rPr lang="en-US" sz="1300" dirty="0">
                <a:solidFill>
                  <a:srgbClr val="49606D"/>
                </a:solidFill>
                <a:latin typeface="Manrope" pitchFamily="34" charset="0"/>
                <a:ea typeface="Manrope" pitchFamily="34" charset="-122"/>
                <a:cs typeface="Manrope" pitchFamily="34" charset="-120"/>
              </a:rPr>
              <a:t>SkillsAtlas turns working experience into evidence that both the worker and adviser can use.</a:t>
            </a:r>
            <a:endParaRPr lang="en-US" sz="1300" dirty="0"/>
          </a:p>
        </p:txBody>
      </p:sp>
      <p:sp>
        <p:nvSpPr>
          <p:cNvPr id="6" name="Shape 4"/>
          <p:cNvSpPr/>
          <p:nvPr/>
        </p:nvSpPr>
        <p:spPr>
          <a:xfrm>
            <a:off x="457200" y="1426464"/>
            <a:ext cx="2606040" cy="2999232"/>
          </a:xfrm>
          <a:prstGeom prst="roundRect">
            <a:avLst>
              <a:gd name="adj" fmla="val 1754"/>
            </a:avLst>
          </a:prstGeom>
          <a:solidFill>
            <a:srgbClr val="FFFCFA"/>
          </a:solidFill>
          <a:ln w="12700">
            <a:solidFill>
              <a:srgbClr val="D9CFC3"/>
            </a:solidFill>
            <a:prstDash val="solid"/>
          </a:ln>
        </p:spPr>
      </p:sp>
      <p:sp>
        <p:nvSpPr>
          <p:cNvPr id="7" name="Shape 5"/>
          <p:cNvSpPr/>
          <p:nvPr/>
        </p:nvSpPr>
        <p:spPr>
          <a:xfrm>
            <a:off x="457200" y="1426464"/>
            <a:ext cx="2606040" cy="36576"/>
          </a:xfrm>
          <a:prstGeom prst="rect">
            <a:avLst/>
          </a:prstGeom>
          <a:solidFill>
            <a:srgbClr val="ED6A4A"/>
          </a:solidFill>
          <a:ln w="12700">
            <a:solidFill>
              <a:srgbClr val="ED6A4A"/>
            </a:solidFill>
            <a:prstDash val="solid"/>
          </a:ln>
        </p:spPr>
      </p:sp>
      <p:sp>
        <p:nvSpPr>
          <p:cNvPr id="8" name="Text 6"/>
          <p:cNvSpPr/>
          <p:nvPr/>
        </p:nvSpPr>
        <p:spPr>
          <a:xfrm>
            <a:off x="640080" y="1627632"/>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01</a:t>
            </a:r>
            <a:endParaRPr lang="en-US" sz="1100" dirty="0"/>
          </a:p>
        </p:txBody>
      </p:sp>
      <p:sp>
        <p:nvSpPr>
          <p:cNvPr id="9" name="Text 7"/>
          <p:cNvSpPr/>
          <p:nvPr/>
        </p:nvSpPr>
        <p:spPr>
          <a:xfrm>
            <a:off x="640080" y="1901952"/>
            <a:ext cx="2249424" cy="585216"/>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Confirm the evidence</a:t>
            </a:r>
            <a:endParaRPr lang="en-US" sz="1800" dirty="0"/>
          </a:p>
        </p:txBody>
      </p:sp>
      <p:sp>
        <p:nvSpPr>
          <p:cNvPr id="10" name="Text 8"/>
          <p:cNvSpPr/>
          <p:nvPr/>
        </p:nvSpPr>
        <p:spPr>
          <a:xfrm>
            <a:off x="640080" y="2542032"/>
            <a:ext cx="2249424" cy="1664208"/>
          </a:xfrm>
          <a:prstGeom prst="rect">
            <a:avLst/>
          </a:prstGeom>
          <a:noFill/>
          <a:ln/>
        </p:spPr>
        <p:txBody>
          <a:bodyPr wrap="square" lIns="0" tIns="0" rIns="0" bIns="0" rtlCol="0" anchor="ctr"/>
          <a:lstStyle/>
          <a:p>
            <a:pPr indent="0" marL="0">
              <a:lnSpc>
                <a:spcPct val="128000"/>
              </a:lnSpc>
              <a:buNone/>
            </a:pPr>
            <a:r>
              <a:rPr lang="en-US" sz="1300" dirty="0">
                <a:solidFill>
                  <a:srgbClr val="183143"/>
                </a:solidFill>
                <a:latin typeface="Manrope" pitchFamily="34" charset="0"/>
                <a:ea typeface="Manrope" pitchFamily="34" charset="-122"/>
                <a:cs typeface="Manrope" pitchFamily="34" charset="-120"/>
              </a:rPr>
              <a:t>Turn CV preparation into experience the worker can confidently use at interview.</a:t>
            </a:r>
            <a:endParaRPr lang="en-US" sz="1300" dirty="0"/>
          </a:p>
        </p:txBody>
      </p:sp>
      <p:sp>
        <p:nvSpPr>
          <p:cNvPr id="11" name="Shape 9"/>
          <p:cNvSpPr/>
          <p:nvPr/>
        </p:nvSpPr>
        <p:spPr>
          <a:xfrm>
            <a:off x="3200400" y="1426464"/>
            <a:ext cx="2606040" cy="2999232"/>
          </a:xfrm>
          <a:prstGeom prst="roundRect">
            <a:avLst>
              <a:gd name="adj" fmla="val 1754"/>
            </a:avLst>
          </a:prstGeom>
          <a:solidFill>
            <a:srgbClr val="FFFCFA"/>
          </a:solidFill>
          <a:ln w="12700">
            <a:solidFill>
              <a:srgbClr val="D9CFC3"/>
            </a:solidFill>
            <a:prstDash val="solid"/>
          </a:ln>
        </p:spPr>
      </p:sp>
      <p:sp>
        <p:nvSpPr>
          <p:cNvPr id="12" name="Shape 10"/>
          <p:cNvSpPr/>
          <p:nvPr/>
        </p:nvSpPr>
        <p:spPr>
          <a:xfrm>
            <a:off x="3200400" y="1426464"/>
            <a:ext cx="2606040" cy="36576"/>
          </a:xfrm>
          <a:prstGeom prst="rect">
            <a:avLst/>
          </a:prstGeom>
          <a:solidFill>
            <a:srgbClr val="ED6A4A"/>
          </a:solidFill>
          <a:ln w="12700">
            <a:solidFill>
              <a:srgbClr val="ED6A4A"/>
            </a:solidFill>
            <a:prstDash val="solid"/>
          </a:ln>
        </p:spPr>
      </p:sp>
      <p:sp>
        <p:nvSpPr>
          <p:cNvPr id="13" name="Text 11"/>
          <p:cNvSpPr/>
          <p:nvPr/>
        </p:nvSpPr>
        <p:spPr>
          <a:xfrm>
            <a:off x="3383280" y="1627632"/>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02</a:t>
            </a:r>
            <a:endParaRPr lang="en-US" sz="1100" dirty="0"/>
          </a:p>
        </p:txBody>
      </p:sp>
      <p:sp>
        <p:nvSpPr>
          <p:cNvPr id="14" name="Text 12"/>
          <p:cNvSpPr/>
          <p:nvPr/>
        </p:nvSpPr>
        <p:spPr>
          <a:xfrm>
            <a:off x="3383280" y="1901952"/>
            <a:ext cx="2249424" cy="585216"/>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Find the route</a:t>
            </a:r>
            <a:endParaRPr lang="en-US" sz="1800" dirty="0"/>
          </a:p>
        </p:txBody>
      </p:sp>
      <p:sp>
        <p:nvSpPr>
          <p:cNvPr id="15" name="Text 13"/>
          <p:cNvSpPr/>
          <p:nvPr/>
        </p:nvSpPr>
        <p:spPr>
          <a:xfrm>
            <a:off x="3383280" y="2542032"/>
            <a:ext cx="2249424" cy="1664208"/>
          </a:xfrm>
          <a:prstGeom prst="rect">
            <a:avLst/>
          </a:prstGeom>
          <a:noFill/>
          <a:ln/>
        </p:spPr>
        <p:txBody>
          <a:bodyPr wrap="square" lIns="0" tIns="0" rIns="0" bIns="0" rtlCol="0" anchor="ctr"/>
          <a:lstStyle/>
          <a:p>
            <a:pPr indent="0" marL="0">
              <a:lnSpc>
                <a:spcPct val="128000"/>
              </a:lnSpc>
              <a:buNone/>
            </a:pPr>
            <a:r>
              <a:rPr lang="en-US" sz="1300" dirty="0">
                <a:solidFill>
                  <a:srgbClr val="183143"/>
                </a:solidFill>
                <a:latin typeface="Manrope" pitchFamily="34" charset="0"/>
                <a:ea typeface="Manrope" pitchFamily="34" charset="-122"/>
                <a:cs typeface="Manrope" pitchFamily="34" charset="-120"/>
              </a:rPr>
              <a:t>Reveal transferable skills, two credible roles and any gap that matters.</a:t>
            </a:r>
            <a:endParaRPr lang="en-US" sz="1300" dirty="0"/>
          </a:p>
        </p:txBody>
      </p:sp>
      <p:sp>
        <p:nvSpPr>
          <p:cNvPr id="16" name="Shape 14"/>
          <p:cNvSpPr/>
          <p:nvPr/>
        </p:nvSpPr>
        <p:spPr>
          <a:xfrm>
            <a:off x="5943600" y="1426464"/>
            <a:ext cx="2606040" cy="2999232"/>
          </a:xfrm>
          <a:prstGeom prst="roundRect">
            <a:avLst>
              <a:gd name="adj" fmla="val 1754"/>
            </a:avLst>
          </a:prstGeom>
          <a:solidFill>
            <a:srgbClr val="FFFCFA"/>
          </a:solidFill>
          <a:ln w="12700">
            <a:solidFill>
              <a:srgbClr val="D9CFC3"/>
            </a:solidFill>
            <a:prstDash val="solid"/>
          </a:ln>
        </p:spPr>
      </p:sp>
      <p:sp>
        <p:nvSpPr>
          <p:cNvPr id="17" name="Shape 15"/>
          <p:cNvSpPr/>
          <p:nvPr/>
        </p:nvSpPr>
        <p:spPr>
          <a:xfrm>
            <a:off x="5943600" y="1426464"/>
            <a:ext cx="2606040" cy="36576"/>
          </a:xfrm>
          <a:prstGeom prst="rect">
            <a:avLst/>
          </a:prstGeom>
          <a:solidFill>
            <a:srgbClr val="ED6A4A"/>
          </a:solidFill>
          <a:ln w="12700">
            <a:solidFill>
              <a:srgbClr val="ED6A4A"/>
            </a:solidFill>
            <a:prstDash val="solid"/>
          </a:ln>
        </p:spPr>
      </p:sp>
      <p:sp>
        <p:nvSpPr>
          <p:cNvPr id="18" name="Text 16"/>
          <p:cNvSpPr/>
          <p:nvPr/>
        </p:nvSpPr>
        <p:spPr>
          <a:xfrm>
            <a:off x="6126480" y="1627632"/>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03</a:t>
            </a:r>
            <a:endParaRPr lang="en-US" sz="1100" dirty="0"/>
          </a:p>
        </p:txBody>
      </p:sp>
      <p:sp>
        <p:nvSpPr>
          <p:cNvPr id="19" name="Text 17"/>
          <p:cNvSpPr/>
          <p:nvPr/>
        </p:nvSpPr>
        <p:spPr>
          <a:xfrm>
            <a:off x="6126480" y="1901952"/>
            <a:ext cx="2249424" cy="585216"/>
          </a:xfrm>
          <a:prstGeom prst="rect">
            <a:avLst/>
          </a:prstGeom>
          <a:noFill/>
          <a:ln/>
        </p:spPr>
        <p:txBody>
          <a:bodyPr wrap="square" lIns="0" tIns="0" rIns="0" bIns="0" rtlCol="0" anchor="ctr"/>
          <a:lstStyle/>
          <a:p>
            <a:pPr indent="0" marL="0">
              <a:buNone/>
            </a:pPr>
            <a:r>
              <a:rPr lang="en-US" sz="1800" dirty="0">
                <a:solidFill>
                  <a:srgbClr val="183143"/>
                </a:solidFill>
                <a:latin typeface="DM Serif Display" pitchFamily="34" charset="0"/>
                <a:ea typeface="DM Serif Display" pitchFamily="34" charset="-122"/>
                <a:cs typeface="DM Serif Display" pitchFamily="34" charset="-120"/>
              </a:rPr>
              <a:t>Prepare the worker</a:t>
            </a:r>
            <a:endParaRPr lang="en-US" sz="1800" dirty="0"/>
          </a:p>
        </p:txBody>
      </p:sp>
      <p:sp>
        <p:nvSpPr>
          <p:cNvPr id="20" name="Text 18"/>
          <p:cNvSpPr/>
          <p:nvPr/>
        </p:nvSpPr>
        <p:spPr>
          <a:xfrm>
            <a:off x="6126480" y="2542032"/>
            <a:ext cx="2249424" cy="1664208"/>
          </a:xfrm>
          <a:prstGeom prst="rect">
            <a:avLst/>
          </a:prstGeom>
          <a:noFill/>
          <a:ln/>
        </p:spPr>
        <p:txBody>
          <a:bodyPr wrap="square" lIns="0" tIns="0" rIns="0" bIns="0" rtlCol="0" anchor="ctr"/>
          <a:lstStyle/>
          <a:p>
            <a:pPr indent="0" marL="0">
              <a:lnSpc>
                <a:spcPct val="128000"/>
              </a:lnSpc>
              <a:buNone/>
            </a:pPr>
            <a:r>
              <a:rPr lang="en-US" sz="1300" dirty="0">
                <a:solidFill>
                  <a:srgbClr val="183143"/>
                </a:solidFill>
                <a:latin typeface="Manrope" pitchFamily="34" charset="0"/>
                <a:ea typeface="Manrope" pitchFamily="34" charset="-122"/>
                <a:cs typeface="Manrope" pitchFamily="34" charset="-120"/>
              </a:rPr>
              <a:t>Build confidence through tailored questions and AI-supported interview best practice.</a:t>
            </a:r>
            <a:endParaRPr lang="en-US" sz="1300" dirty="0"/>
          </a:p>
        </p:txBody>
      </p:sp>
      <p:pic>
        <p:nvPicPr>
          <p:cNvPr id="21" name="Image 0" descr="C:\Users\IKARUS\Desktop\CURSOR PROJECTS\skillsatlas_main\scripts\deck\assets\atlas-mark.png">    </p:cNvPr>
          <p:cNvPicPr>
            <a:picLocks noChangeAspect="1"/>
          </p:cNvPicPr>
          <p:nvPr/>
        </p:nvPicPr>
        <p:blipFill>
          <a:blip r:embed="rId1"/>
          <a:stretch>
            <a:fillRect/>
          </a:stretch>
        </p:blipFill>
        <p:spPr>
          <a:xfrm>
            <a:off x="457200" y="4846320"/>
            <a:ext cx="146304" cy="146304"/>
          </a:xfrm>
          <a:prstGeom prst="rect">
            <a:avLst/>
          </a:prstGeom>
        </p:spPr>
      </p:pic>
      <p:sp>
        <p:nvSpPr>
          <p:cNvPr id="22" name="Text 19"/>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3" name="Text 20"/>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B3F"/>
        </a:solidFill>
      </p:bgPr>
    </p:bg>
    <p:spTree>
      <p:nvGrpSpPr>
        <p:cNvPr id="1" name=""/>
        <p:cNvGrpSpPr/>
        <p:nvPr/>
      </p:nvGrpSpPr>
      <p:grpSpPr>
        <a:xfrm>
          <a:off x="0" y="0"/>
          <a:ext cx="0" cy="0"/>
          <a:chOff x="0" y="0"/>
          <a:chExt cx="0" cy="0"/>
        </a:xfrm>
      </p:grpSpPr>
      <p:sp>
        <p:nvSpPr>
          <p:cNvPr id="2" name="Text 0"/>
          <p:cNvSpPr/>
          <p:nvPr/>
        </p:nvSpPr>
        <p:spPr>
          <a:xfrm>
            <a:off x="457200" y="1234440"/>
            <a:ext cx="8229600" cy="182880"/>
          </a:xfrm>
          <a:prstGeom prst="rect">
            <a:avLst/>
          </a:prstGeom>
          <a:noFill/>
          <a:ln/>
        </p:spPr>
        <p:txBody>
          <a:bodyPr wrap="square" lIns="0" tIns="0" rIns="0" bIns="0" rtlCol="0" anchor="ctr"/>
          <a:lstStyle/>
          <a:p>
            <a:pPr algn="ctr" indent="0" marL="0">
              <a:buNone/>
            </a:pPr>
            <a:r>
              <a:rPr lang="en-US" sz="1000" b="1" spc="260" kern="0" dirty="0">
                <a:solidFill>
                  <a:srgbClr val="ED6A4A"/>
                </a:solidFill>
                <a:latin typeface="Manrope" pitchFamily="34" charset="0"/>
                <a:ea typeface="Manrope" pitchFamily="34" charset="-122"/>
                <a:cs typeface="Manrope" pitchFamily="34" charset="-120"/>
              </a:rPr>
              <a:t>LIVE DEMONSTRATION</a:t>
            </a:r>
            <a:endParaRPr lang="en-US" sz="1000" dirty="0"/>
          </a:p>
        </p:txBody>
      </p:sp>
      <p:sp>
        <p:nvSpPr>
          <p:cNvPr id="3" name="Text 1"/>
          <p:cNvSpPr/>
          <p:nvPr/>
        </p:nvSpPr>
        <p:spPr>
          <a:xfrm>
            <a:off x="457200" y="1572768"/>
            <a:ext cx="8229600" cy="713232"/>
          </a:xfrm>
          <a:prstGeom prst="rect">
            <a:avLst/>
          </a:prstGeom>
          <a:noFill/>
          <a:ln/>
        </p:spPr>
        <p:txBody>
          <a:bodyPr wrap="square" lIns="0" tIns="0" rIns="0" bIns="0" rtlCol="0" anchor="ctr"/>
          <a:lstStyle/>
          <a:p>
            <a:pPr algn="ctr" indent="0" marL="0">
              <a:buNone/>
            </a:pPr>
            <a:r>
              <a:rPr lang="en-US" sz="4800" dirty="0">
                <a:solidFill>
                  <a:srgbClr val="F8FAFC"/>
                </a:solidFill>
                <a:latin typeface="DM Serif Display" pitchFamily="34" charset="0"/>
                <a:ea typeface="DM Serif Display" pitchFamily="34" charset="-122"/>
                <a:cs typeface="DM Serif Display" pitchFamily="34" charset="-120"/>
              </a:rPr>
              <a:t>Prototype</a:t>
            </a:r>
            <a:endParaRPr lang="en-US" sz="4800" dirty="0"/>
          </a:p>
        </p:txBody>
      </p:sp>
      <p:sp>
        <p:nvSpPr>
          <p:cNvPr id="4" name="Text 2"/>
          <p:cNvSpPr/>
          <p:nvPr/>
        </p:nvSpPr>
        <p:spPr>
          <a:xfrm>
            <a:off x="457200" y="2359152"/>
            <a:ext cx="8229600" cy="237744"/>
          </a:xfrm>
          <a:prstGeom prst="rect">
            <a:avLst/>
          </a:prstGeom>
          <a:noFill/>
          <a:ln/>
        </p:spPr>
        <p:txBody>
          <a:bodyPr wrap="square" lIns="0" tIns="0" rIns="0" bIns="0" rtlCol="0" anchor="ctr"/>
          <a:lstStyle/>
          <a:p>
            <a:pPr algn="ctr" indent="0" marL="0">
              <a:buNone/>
            </a:pPr>
            <a:r>
              <a:rPr lang="en-US" sz="1300" dirty="0">
                <a:solidFill>
                  <a:srgbClr val="A8B4BC"/>
                </a:solidFill>
                <a:latin typeface="Manrope" pitchFamily="34" charset="0"/>
                <a:ea typeface="Manrope" pitchFamily="34" charset="-122"/>
                <a:cs typeface="Manrope" pitchFamily="34" charset="-120"/>
              </a:rPr>
              <a:t>Practice CV   ·   Prepared interaction</a:t>
            </a:r>
            <a:endParaRPr lang="en-US" sz="1300" dirty="0"/>
          </a:p>
        </p:txBody>
      </p:sp>
      <p:sp>
        <p:nvSpPr>
          <p:cNvPr id="5" name="Shape 3"/>
          <p:cNvSpPr/>
          <p:nvPr/>
        </p:nvSpPr>
        <p:spPr>
          <a:xfrm>
            <a:off x="3108960" y="2779776"/>
            <a:ext cx="2926080" cy="0"/>
          </a:xfrm>
          <a:prstGeom prst="line">
            <a:avLst/>
          </a:prstGeom>
          <a:noFill/>
          <a:ln w="12700">
            <a:solidFill>
              <a:srgbClr val="2A4558"/>
            </a:solidFill>
            <a:prstDash val="solid"/>
          </a:ln>
        </p:spPr>
      </p:sp>
      <p:sp>
        <p:nvSpPr>
          <p:cNvPr id="6" name="Text 4">
            <a:hlinkClick r:id="rId1" tooltip=""/>
          </p:cNvPr>
          <p:cNvSpPr/>
          <p:nvPr/>
        </p:nvSpPr>
        <p:spPr>
          <a:xfrm>
            <a:off x="457200" y="2907792"/>
            <a:ext cx="8229600" cy="384048"/>
          </a:xfrm>
          <a:prstGeom prst="rect">
            <a:avLst/>
          </a:prstGeom>
          <a:noFill/>
          <a:ln/>
        </p:spPr>
        <p:txBody>
          <a:bodyPr wrap="square" lIns="0" tIns="0" rIns="0" bIns="0" rtlCol="0" anchor="ctr"/>
          <a:lstStyle/>
          <a:p>
            <a:pPr algn="ctr" indent="0" marL="0">
              <a:buNone/>
            </a:pPr>
            <a:r>
              <a:rPr lang="en-US" sz="2200" u="sng" dirty="0">
                <a:solidFill>
                  <a:srgbClr val="ED6A4A"/>
                </a:solidFill>
                <a:latin typeface="DM Serif Display" pitchFamily="34" charset="0"/>
                <a:ea typeface="DM Serif Display" pitchFamily="34" charset="-122"/>
                <a:cs typeface="DM Serif Display" pitchFamily="34" charset="-120"/>
                <a:hlinkClick r:id="rId1" invalidUrl="" action="" tgtFrame="" tooltip="" history="1" highlightClick="0" endSnd="0">
                  <a:extLst>
                    <a:ext uri="{A12FA001-AC4F-418D-AE19-62706E023703}">
                      <ahyp:hlinkClr xmlns:ahyp="http://schemas.microsoft.com/office/drawing/2018/hyperlinkcolor" val="tx"/>
                    </a:ext>
                  </a:extLst>
                </a:hlinkClick>
              </a:rPr>
              <a:t>skillsatlas.vercel.app</a:t>
            </a:r>
            <a:endParaRPr lang="en-US" sz="2200" dirty="0"/>
          </a:p>
        </p:txBody>
      </p:sp>
      <p:sp>
        <p:nvSpPr>
          <p:cNvPr id="7" name="Text 5"/>
          <p:cNvSpPr/>
          <p:nvPr/>
        </p:nvSpPr>
        <p:spPr>
          <a:xfrm>
            <a:off x="457200" y="3383280"/>
            <a:ext cx="8229600" cy="256032"/>
          </a:xfrm>
          <a:prstGeom prst="rect">
            <a:avLst/>
          </a:prstGeom>
          <a:noFill/>
          <a:ln/>
        </p:spPr>
        <p:txBody>
          <a:bodyPr wrap="square" lIns="0" tIns="0" rIns="0" bIns="0" rtlCol="0" anchor="ctr"/>
          <a:lstStyle/>
          <a:p>
            <a:pPr algn="ctr" indent="0" marL="0">
              <a:buNone/>
            </a:pPr>
            <a:r>
              <a:rPr lang="en-US" sz="1300" dirty="0">
                <a:solidFill>
                  <a:srgbClr val="A8B4BC"/>
                </a:solidFill>
                <a:latin typeface="Manrope" pitchFamily="34" charset="0"/>
                <a:ea typeface="Manrope" pitchFamily="34" charset="-122"/>
                <a:cs typeface="Manrope" pitchFamily="34" charset="-120"/>
              </a:rPr>
              <a:t>A prepared walk-through. Not a live AI system on this stage.</a:t>
            </a:r>
            <a:endParaRPr lang="en-US" sz="1300" dirty="0"/>
          </a:p>
        </p:txBody>
      </p:sp>
      <p:sp>
        <p:nvSpPr>
          <p:cNvPr id="8" name="Text 6"/>
          <p:cNvSpPr/>
          <p:nvPr/>
        </p:nvSpPr>
        <p:spPr>
          <a:xfrm>
            <a:off x="457200" y="4864608"/>
            <a:ext cx="2194560" cy="164592"/>
          </a:xfrm>
          <a:prstGeom prst="rect">
            <a:avLst/>
          </a:prstGeom>
          <a:noFill/>
          <a:ln/>
        </p:spPr>
        <p:txBody>
          <a:bodyPr wrap="square" lIns="0" tIns="0" rIns="0" bIns="0" rtlCol="0" anchor="ctr"/>
          <a:lstStyle/>
          <a:p>
            <a:pPr indent="0" marL="0">
              <a:buNone/>
            </a:pPr>
            <a:r>
              <a:rPr lang="en-US" sz="800" b="1" spc="200" kern="0" dirty="0">
                <a:solidFill>
                  <a:srgbClr val="A8B4BC"/>
                </a:solidFill>
                <a:latin typeface="Manrope" pitchFamily="34" charset="0"/>
                <a:ea typeface="Manrope" pitchFamily="34" charset="-122"/>
                <a:cs typeface="Manrope" pitchFamily="34" charset="-120"/>
              </a:rPr>
              <a:t>SKILLSATLAS</a:t>
            </a:r>
            <a:endParaRPr lang="en-US" sz="800" dirty="0"/>
          </a:p>
        </p:txBody>
      </p:sp>
      <p:sp>
        <p:nvSpPr>
          <p:cNvPr id="9" name="Text 7"/>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A8B4BC"/>
                </a:solidFill>
                <a:latin typeface="Manrope" pitchFamily="34" charset="0"/>
                <a:ea typeface="Manrope" pitchFamily="34" charset="-122"/>
                <a:cs typeface="Manrope"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37744"/>
            <a:ext cx="8229600" cy="164592"/>
          </a:xfrm>
          <a:prstGeom prst="rect">
            <a:avLst/>
          </a:prstGeom>
          <a:noFill/>
          <a:ln/>
        </p:spPr>
        <p:txBody>
          <a:bodyPr wrap="square" lIns="0" tIns="0" rIns="0" bIns="0" rtlCol="0" anchor="ctr"/>
          <a:lstStyle/>
          <a:p>
            <a:pPr indent="0" marL="0">
              <a:buNone/>
            </a:pPr>
            <a:r>
              <a:rPr lang="en-US" sz="1000" b="1" spc="240" kern="0" dirty="0">
                <a:solidFill>
                  <a:srgbClr val="1E5D5E"/>
                </a:solidFill>
                <a:latin typeface="Manrope" pitchFamily="34" charset="0"/>
                <a:ea typeface="Manrope" pitchFamily="34" charset="-122"/>
                <a:cs typeface="Manrope" pitchFamily="34" charset="-120"/>
              </a:rPr>
              <a:t>WHO USES IT</a:t>
            </a:r>
            <a:endParaRPr lang="en-US" sz="1000" dirty="0"/>
          </a:p>
        </p:txBody>
      </p:sp>
      <p:sp>
        <p:nvSpPr>
          <p:cNvPr id="3" name="Shape 1"/>
          <p:cNvSpPr/>
          <p:nvPr/>
        </p:nvSpPr>
        <p:spPr>
          <a:xfrm>
            <a:off x="457200" y="438912"/>
            <a:ext cx="8229600" cy="0"/>
          </a:xfrm>
          <a:prstGeom prst="line">
            <a:avLst/>
          </a:prstGeom>
          <a:noFill/>
          <a:ln w="12700">
            <a:solidFill>
              <a:srgbClr val="D9CFC3"/>
            </a:solidFill>
            <a:prstDash val="solid"/>
          </a:ln>
        </p:spPr>
      </p:sp>
      <p:sp>
        <p:nvSpPr>
          <p:cNvPr id="4" name="Text 2"/>
          <p:cNvSpPr/>
          <p:nvPr/>
        </p:nvSpPr>
        <p:spPr>
          <a:xfrm>
            <a:off x="457200" y="493776"/>
            <a:ext cx="8229600" cy="914400"/>
          </a:xfrm>
          <a:prstGeom prst="rect">
            <a:avLst/>
          </a:prstGeom>
          <a:noFill/>
          <a:ln/>
        </p:spPr>
        <p:txBody>
          <a:bodyPr wrap="square" lIns="0" tIns="0" rIns="0" bIns="0" rtlCol="0" anchor="ctr"/>
          <a:lstStyle/>
          <a:p>
            <a:pPr indent="0" marL="0">
              <a:lnSpc>
                <a:spcPct val="104000"/>
              </a:lnSpc>
              <a:buNone/>
            </a:pPr>
            <a:r>
              <a:rPr lang="en-US" sz="2000" dirty="0">
                <a:solidFill>
                  <a:srgbClr val="183143"/>
                </a:solidFill>
                <a:latin typeface="DM Serif Display" pitchFamily="34" charset="0"/>
                <a:ea typeface="DM Serif Display" pitchFamily="34" charset="-122"/>
                <a:cs typeface="DM Serif Display" pitchFamily="34" charset="-120"/>
              </a:rPr>
              <a:t>We sell to the recruiter who’s on too much pressure doing administrative work, when they should be getting people jobs</a:t>
            </a:r>
            <a:endParaRPr lang="en-US" sz="2000" dirty="0"/>
          </a:p>
        </p:txBody>
      </p:sp>
      <p:sp>
        <p:nvSpPr>
          <p:cNvPr id="5" name="Text 3"/>
          <p:cNvSpPr/>
          <p:nvPr/>
        </p:nvSpPr>
        <p:spPr>
          <a:xfrm>
            <a:off x="457200" y="1536192"/>
            <a:ext cx="4846320" cy="182880"/>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CUSTOMERS  ·  B2B</a:t>
            </a:r>
            <a:endParaRPr lang="en-US" sz="1050" dirty="0"/>
          </a:p>
        </p:txBody>
      </p:sp>
      <p:sp>
        <p:nvSpPr>
          <p:cNvPr id="6" name="Text 4"/>
          <p:cNvSpPr/>
          <p:nvPr/>
        </p:nvSpPr>
        <p:spPr>
          <a:xfrm>
            <a:off x="457200" y="1755648"/>
            <a:ext cx="4846320" cy="256032"/>
          </a:xfrm>
          <a:prstGeom prst="rect">
            <a:avLst/>
          </a:prstGeom>
          <a:noFill/>
          <a:ln/>
        </p:spPr>
        <p:txBody>
          <a:bodyPr wrap="square" lIns="0" tIns="0" rIns="0" bIns="0" rtlCol="0" anchor="ctr"/>
          <a:lstStyle/>
          <a:p>
            <a:pPr indent="0" marL="0">
              <a:buNone/>
            </a:pPr>
            <a:r>
              <a:rPr lang="en-US" sz="1600" dirty="0">
                <a:solidFill>
                  <a:srgbClr val="183143"/>
                </a:solidFill>
                <a:latin typeface="DM Serif Display" pitchFamily="34" charset="0"/>
                <a:ea typeface="DM Serif Display" pitchFamily="34" charset="-122"/>
                <a:cs typeface="DM Serif Display" pitchFamily="34" charset="-120"/>
              </a:rPr>
              <a:t>Recruitment firms and employment agencies</a:t>
            </a:r>
            <a:endParaRPr lang="en-US" sz="1600" dirty="0"/>
          </a:p>
        </p:txBody>
      </p:sp>
      <p:sp>
        <p:nvSpPr>
          <p:cNvPr id="7" name="Text 5"/>
          <p:cNvSpPr/>
          <p:nvPr/>
        </p:nvSpPr>
        <p:spPr>
          <a:xfrm>
            <a:off x="457200" y="2048256"/>
            <a:ext cx="4846320" cy="310896"/>
          </a:xfrm>
          <a:prstGeom prst="rect">
            <a:avLst/>
          </a:prstGeom>
          <a:noFill/>
          <a:ln/>
        </p:spPr>
        <p:txBody>
          <a:bodyPr wrap="square" lIns="0" tIns="0" rIns="0" bIns="0" rtlCol="0" anchor="ctr"/>
          <a:lstStyle/>
          <a:p>
            <a:pPr indent="0" marL="0">
              <a:buNone/>
            </a:pPr>
            <a:r>
              <a:rPr lang="en-US" sz="2200" dirty="0">
                <a:solidFill>
                  <a:srgbClr val="183143"/>
                </a:solidFill>
                <a:latin typeface="DM Serif Display" pitchFamily="34" charset="0"/>
                <a:ea typeface="DM Serif Display" pitchFamily="34" charset="-122"/>
                <a:cs typeface="DM Serif Display" pitchFamily="34" charset="-120"/>
              </a:rPr>
              <a:t>200+</a:t>
            </a:r>
            <a:pPr indent="0" marL="0">
              <a:buNone/>
            </a:pPr>
            <a:r>
              <a:rPr lang="en-US" sz="1300" dirty="0">
                <a:solidFill>
                  <a:srgbClr val="49606D"/>
                </a:solidFill>
                <a:latin typeface="Manrope" pitchFamily="34" charset="0"/>
                <a:ea typeface="Manrope" pitchFamily="34" charset="-122"/>
                <a:cs typeface="Manrope" pitchFamily="34" charset="-120"/>
              </a:rPr>
              <a:t>   ERF member firms in Ireland.</a:t>
            </a:r>
            <a:endParaRPr lang="en-US" sz="1300" dirty="0"/>
          </a:p>
        </p:txBody>
      </p:sp>
      <p:sp>
        <p:nvSpPr>
          <p:cNvPr id="8" name="Text 6"/>
          <p:cNvSpPr/>
          <p:nvPr/>
        </p:nvSpPr>
        <p:spPr>
          <a:xfrm>
            <a:off x="457200" y="2450592"/>
            <a:ext cx="4846320" cy="237744"/>
          </a:xfrm>
          <a:prstGeom prst="rect">
            <a:avLst/>
          </a:prstGeom>
          <a:noFill/>
          <a:ln/>
        </p:spPr>
        <p:txBody>
          <a:bodyPr wrap="square" lIns="0" tIns="0" rIns="0" bIns="0" rtlCol="0" anchor="ctr"/>
          <a:lstStyle/>
          <a:p>
            <a:pPr indent="0" marL="0">
              <a:buNone/>
            </a:pPr>
            <a:r>
              <a:rPr lang="en-US" sz="1600" dirty="0">
                <a:solidFill>
                  <a:srgbClr val="183143"/>
                </a:solidFill>
                <a:latin typeface="DM Serif Display" pitchFamily="34" charset="0"/>
                <a:ea typeface="DM Serif Display" pitchFamily="34" charset="-122"/>
                <a:cs typeface="DM Serif Display" pitchFamily="34" charset="-120"/>
              </a:rPr>
              <a:t>HR teams beginning with mid-size firms</a:t>
            </a:r>
            <a:endParaRPr lang="en-US" sz="1600" dirty="0"/>
          </a:p>
        </p:txBody>
      </p:sp>
      <p:sp>
        <p:nvSpPr>
          <p:cNvPr id="9" name="Text 7"/>
          <p:cNvSpPr/>
          <p:nvPr/>
        </p:nvSpPr>
        <p:spPr>
          <a:xfrm>
            <a:off x="457200" y="2706624"/>
            <a:ext cx="4846320" cy="292608"/>
          </a:xfrm>
          <a:prstGeom prst="rect">
            <a:avLst/>
          </a:prstGeom>
          <a:noFill/>
          <a:ln/>
        </p:spPr>
        <p:txBody>
          <a:bodyPr wrap="square" lIns="0" tIns="0" rIns="0" bIns="0" rtlCol="0" anchor="ctr"/>
          <a:lstStyle/>
          <a:p>
            <a:pPr indent="0" marL="0">
              <a:buNone/>
            </a:pPr>
            <a:r>
              <a:rPr lang="en-US" sz="2200" dirty="0">
                <a:solidFill>
                  <a:srgbClr val="183143"/>
                </a:solidFill>
                <a:latin typeface="DM Serif Display" pitchFamily="34" charset="0"/>
                <a:ea typeface="DM Serif Display" pitchFamily="34" charset="-122"/>
                <a:cs typeface="DM Serif Display" pitchFamily="34" charset="-120"/>
              </a:rPr>
              <a:t>4,662</a:t>
            </a:r>
            <a:endParaRPr lang="en-US" sz="2200" dirty="0"/>
          </a:p>
        </p:txBody>
      </p:sp>
      <p:sp>
        <p:nvSpPr>
          <p:cNvPr id="10" name="Text 8"/>
          <p:cNvSpPr/>
          <p:nvPr/>
        </p:nvSpPr>
        <p:spPr>
          <a:xfrm>
            <a:off x="457200" y="2999232"/>
            <a:ext cx="4846320" cy="457200"/>
          </a:xfrm>
          <a:prstGeom prst="rect">
            <a:avLst/>
          </a:prstGeom>
          <a:noFill/>
          <a:ln/>
        </p:spPr>
        <p:txBody>
          <a:bodyPr wrap="square" lIns="0" tIns="0" rIns="0" bIns="0" rtlCol="0" anchor="ctr"/>
          <a:lstStyle/>
          <a:p>
            <a:pPr indent="0" marL="0">
              <a:buNone/>
            </a:pPr>
            <a:r>
              <a:rPr lang="en-US" sz="1300" dirty="0">
                <a:solidFill>
                  <a:srgbClr val="49606D"/>
                </a:solidFill>
                <a:latin typeface="Manrope" pitchFamily="34" charset="0"/>
                <a:ea typeface="Manrope" pitchFamily="34" charset="-122"/>
                <a:cs typeface="Manrope" pitchFamily="34" charset="-120"/>
              </a:rPr>
              <a:t>firms with 50–249 people — big enough for HR, small enough not to build this themselves.</a:t>
            </a:r>
            <a:endParaRPr lang="en-US" sz="1300" dirty="0"/>
          </a:p>
        </p:txBody>
      </p:sp>
      <p:sp>
        <p:nvSpPr>
          <p:cNvPr id="11" name="Shape 9"/>
          <p:cNvSpPr/>
          <p:nvPr/>
        </p:nvSpPr>
        <p:spPr>
          <a:xfrm>
            <a:off x="5440680" y="1572768"/>
            <a:ext cx="0" cy="0"/>
          </a:xfrm>
          <a:prstGeom prst="line">
            <a:avLst/>
          </a:prstGeom>
          <a:noFill/>
          <a:ln w="12700">
            <a:solidFill>
              <a:srgbClr val="D9CFC3"/>
            </a:solidFill>
            <a:prstDash val="solid"/>
          </a:ln>
        </p:spPr>
      </p:sp>
      <p:sp>
        <p:nvSpPr>
          <p:cNvPr id="12" name="Shape 10"/>
          <p:cNvSpPr/>
          <p:nvPr/>
        </p:nvSpPr>
        <p:spPr>
          <a:xfrm>
            <a:off x="5440680" y="1572768"/>
            <a:ext cx="0" cy="1920240"/>
          </a:xfrm>
          <a:prstGeom prst="line">
            <a:avLst/>
          </a:prstGeom>
          <a:noFill/>
          <a:ln w="12700">
            <a:solidFill>
              <a:srgbClr val="D9CFC3"/>
            </a:solidFill>
            <a:prstDash val="solid"/>
          </a:ln>
        </p:spPr>
      </p:sp>
      <p:sp>
        <p:nvSpPr>
          <p:cNvPr id="13" name="Text 11"/>
          <p:cNvSpPr/>
          <p:nvPr/>
        </p:nvSpPr>
        <p:spPr>
          <a:xfrm>
            <a:off x="5715000" y="1536192"/>
            <a:ext cx="2971800" cy="182880"/>
          </a:xfrm>
          <a:prstGeom prst="rect">
            <a:avLst/>
          </a:prstGeom>
          <a:noFill/>
          <a:ln/>
        </p:spPr>
        <p:txBody>
          <a:bodyPr wrap="square" lIns="0" tIns="0" rIns="0" bIns="0" rtlCol="0" anchor="ctr"/>
          <a:lstStyle/>
          <a:p>
            <a:pPr indent="0" marL="0">
              <a:buNone/>
            </a:pPr>
            <a:r>
              <a:rPr lang="en-US" sz="1050" b="1" spc="140" kern="0" dirty="0">
                <a:solidFill>
                  <a:srgbClr val="1E5D5E"/>
                </a:solidFill>
                <a:latin typeface="Manrope" pitchFamily="34" charset="0"/>
                <a:ea typeface="Manrope" pitchFamily="34" charset="-122"/>
                <a:cs typeface="Manrope" pitchFamily="34" charset="-120"/>
              </a:rPr>
              <a:t>BENEFICIARIES</a:t>
            </a:r>
            <a:endParaRPr lang="en-US" sz="1050" dirty="0"/>
          </a:p>
        </p:txBody>
      </p:sp>
      <p:sp>
        <p:nvSpPr>
          <p:cNvPr id="14" name="Text 12"/>
          <p:cNvSpPr/>
          <p:nvPr/>
        </p:nvSpPr>
        <p:spPr>
          <a:xfrm>
            <a:off x="5715000" y="1755648"/>
            <a:ext cx="2971800" cy="310896"/>
          </a:xfrm>
          <a:prstGeom prst="rect">
            <a:avLst/>
          </a:prstGeom>
          <a:noFill/>
          <a:ln/>
        </p:spPr>
        <p:txBody>
          <a:bodyPr wrap="square" lIns="0" tIns="0" rIns="0" bIns="0" rtlCol="0" anchor="ctr"/>
          <a:lstStyle/>
          <a:p>
            <a:pPr indent="0" marL="0">
              <a:buNone/>
            </a:pPr>
            <a:r>
              <a:rPr lang="en-US" sz="2000" dirty="0">
                <a:solidFill>
                  <a:srgbClr val="183143"/>
                </a:solidFill>
                <a:latin typeface="DM Serif Display" pitchFamily="34" charset="0"/>
                <a:ea typeface="DM Serif Display" pitchFamily="34" charset="-122"/>
                <a:cs typeface="DM Serif Display" pitchFamily="34" charset="-120"/>
              </a:rPr>
              <a:t>Job seekers</a:t>
            </a:r>
            <a:endParaRPr lang="en-US" sz="2000" dirty="0"/>
          </a:p>
        </p:txBody>
      </p:sp>
      <p:sp>
        <p:nvSpPr>
          <p:cNvPr id="15" name="Text 13"/>
          <p:cNvSpPr/>
          <p:nvPr/>
        </p:nvSpPr>
        <p:spPr>
          <a:xfrm>
            <a:off x="5715000" y="2121408"/>
            <a:ext cx="2971800" cy="658368"/>
          </a:xfrm>
          <a:prstGeom prst="rect">
            <a:avLst/>
          </a:prstGeom>
          <a:noFill/>
          <a:ln/>
        </p:spPr>
        <p:txBody>
          <a:bodyPr wrap="square" lIns="0" tIns="0" rIns="0" bIns="0" rtlCol="0" anchor="ctr"/>
          <a:lstStyle/>
          <a:p>
            <a:pPr indent="0" marL="0">
              <a:lnSpc>
                <a:spcPct val="122000"/>
              </a:lnSpc>
              <a:buNone/>
            </a:pPr>
            <a:r>
              <a:rPr lang="en-US" sz="1300" dirty="0">
                <a:solidFill>
                  <a:srgbClr val="183143"/>
                </a:solidFill>
                <a:latin typeface="Manrope" pitchFamily="34" charset="0"/>
                <a:ea typeface="Manrope" pitchFamily="34" charset="-122"/>
                <a:cs typeface="Manrope" pitchFamily="34" charset="-120"/>
              </a:rPr>
              <a:t>They use it. They confirm. They choose. They leave with the Interview Board.</a:t>
            </a:r>
            <a:endParaRPr lang="en-US" sz="1300" dirty="0"/>
          </a:p>
        </p:txBody>
      </p:sp>
      <p:sp>
        <p:nvSpPr>
          <p:cNvPr id="16" name="Text 14"/>
          <p:cNvSpPr/>
          <p:nvPr/>
        </p:nvSpPr>
        <p:spPr>
          <a:xfrm>
            <a:off x="5715000" y="2834640"/>
            <a:ext cx="2971800" cy="548640"/>
          </a:xfrm>
          <a:prstGeom prst="rect">
            <a:avLst/>
          </a:prstGeom>
          <a:noFill/>
          <a:ln/>
        </p:spPr>
        <p:txBody>
          <a:bodyPr wrap="square" lIns="0" tIns="0" rIns="0" bIns="0" rtlCol="0" anchor="ctr"/>
          <a:lstStyle/>
          <a:p>
            <a:pPr indent="0" marL="0">
              <a:lnSpc>
                <a:spcPct val="122000"/>
              </a:lnSpc>
              <a:buNone/>
            </a:pPr>
            <a:r>
              <a:rPr lang="en-US" sz="1300" dirty="0">
                <a:solidFill>
                  <a:srgbClr val="49606D"/>
                </a:solidFill>
                <a:latin typeface="Manrope" pitchFamily="34" charset="0"/>
                <a:ea typeface="Manrope" pitchFamily="34" charset="-122"/>
                <a:cs typeface="Manrope" pitchFamily="34" charset="-120"/>
              </a:rPr>
              <a:t>They are not a second customer track. They do not pay.</a:t>
            </a:r>
            <a:endParaRPr lang="en-US" sz="1300" dirty="0"/>
          </a:p>
        </p:txBody>
      </p:sp>
      <p:sp>
        <p:nvSpPr>
          <p:cNvPr id="17" name="Shape 15"/>
          <p:cNvSpPr/>
          <p:nvPr/>
        </p:nvSpPr>
        <p:spPr>
          <a:xfrm>
            <a:off x="457200" y="3584448"/>
            <a:ext cx="8229600" cy="804672"/>
          </a:xfrm>
          <a:prstGeom prst="roundRect">
            <a:avLst>
              <a:gd name="adj" fmla="val 5682"/>
            </a:avLst>
          </a:prstGeom>
          <a:solidFill>
            <a:srgbClr val="102B3F"/>
          </a:solidFill>
          <a:ln w="12700">
            <a:solidFill>
              <a:srgbClr val="102B3F"/>
            </a:solidFill>
            <a:prstDash val="solid"/>
          </a:ln>
        </p:spPr>
      </p:sp>
      <p:sp>
        <p:nvSpPr>
          <p:cNvPr id="18" name="Text 16"/>
          <p:cNvSpPr/>
          <p:nvPr/>
        </p:nvSpPr>
        <p:spPr>
          <a:xfrm>
            <a:off x="676656" y="3694176"/>
            <a:ext cx="1965960" cy="585216"/>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PROPOSED MODEL</a:t>
            </a:r>
            <a:endParaRPr lang="en-US" sz="1050" dirty="0"/>
          </a:p>
        </p:txBody>
      </p:sp>
      <p:sp>
        <p:nvSpPr>
          <p:cNvPr id="19" name="Text 17"/>
          <p:cNvSpPr/>
          <p:nvPr/>
        </p:nvSpPr>
        <p:spPr>
          <a:xfrm>
            <a:off x="2697480" y="3694176"/>
            <a:ext cx="6172200" cy="585216"/>
          </a:xfrm>
          <a:prstGeom prst="rect">
            <a:avLst/>
          </a:prstGeom>
          <a:noFill/>
          <a:ln/>
        </p:spPr>
        <p:txBody>
          <a:bodyPr wrap="square" lIns="0" tIns="0" rIns="0" bIns="0" rtlCol="0" anchor="ctr"/>
          <a:lstStyle/>
          <a:p>
            <a:pPr indent="0" marL="0">
              <a:buNone/>
            </a:pPr>
            <a:r>
              <a:rPr lang="en-US" sz="1250" dirty="0">
                <a:solidFill>
                  <a:srgbClr val="F8FAFC"/>
                </a:solidFill>
                <a:latin typeface="Manrope" pitchFamily="34" charset="0"/>
                <a:ea typeface="Manrope" pitchFamily="34" charset="-122"/>
                <a:cs typeface="Manrope" pitchFamily="34" charset="-120"/>
              </a:rPr>
              <a:t>Pay per seat, per caseworker. About 3–5 candidates a day. Same four screens, different professional across the table. Not a consumer app. Price is still open.</a:t>
            </a:r>
            <a:endParaRPr lang="en-US" sz="1250" dirty="0"/>
          </a:p>
        </p:txBody>
      </p:sp>
      <p:sp>
        <p:nvSpPr>
          <p:cNvPr id="20" name="Text 18"/>
          <p:cNvSpPr/>
          <p:nvPr/>
        </p:nvSpPr>
        <p:spPr>
          <a:xfrm>
            <a:off x="457200" y="4462272"/>
            <a:ext cx="8229600" cy="164592"/>
          </a:xfrm>
          <a:prstGeom prst="rect">
            <a:avLst/>
          </a:prstGeom>
          <a:noFill/>
          <a:ln/>
        </p:spPr>
        <p:txBody>
          <a:bodyPr wrap="square" lIns="0" tIns="0" rIns="0" bIns="0" rtlCol="0" anchor="ctr"/>
          <a:lstStyle/>
          <a:p>
            <a:pPr indent="0" marL="0">
              <a:buNone/>
            </a:pPr>
            <a:r>
              <a:rPr lang="en-US" sz="900" spc="60" kern="0" dirty="0">
                <a:solidFill>
                  <a:srgbClr val="49606D"/>
                </a:solidFill>
                <a:latin typeface="Manrope" pitchFamily="34" charset="0"/>
                <a:ea typeface="Manrope" pitchFamily="34" charset="-122"/>
                <a:cs typeface="Manrope" pitchFamily="34" charset="-120"/>
              </a:rPr>
              <a:t>ERF public member line, 2025–26.   Medium firms: CSO Business in Ireland 2023.   Not a customer count.</a:t>
            </a:r>
            <a:endParaRPr lang="en-US" sz="900" dirty="0"/>
          </a:p>
        </p:txBody>
      </p:sp>
      <p:pic>
        <p:nvPicPr>
          <p:cNvPr id="21" name="Image 0" descr="C:\Users\IKARUS\Desktop\CURSOR PROJECTS\skillsatlas_main\scripts\deck\assets\atlas-mark.png">    </p:cNvPr>
          <p:cNvPicPr>
            <a:picLocks noChangeAspect="1"/>
          </p:cNvPicPr>
          <p:nvPr/>
        </p:nvPicPr>
        <p:blipFill>
          <a:blip r:embed="rId1"/>
          <a:stretch>
            <a:fillRect/>
          </a:stretch>
        </p:blipFill>
        <p:spPr>
          <a:xfrm>
            <a:off x="457200" y="4846320"/>
            <a:ext cx="146304" cy="146304"/>
          </a:xfrm>
          <a:prstGeom prst="rect">
            <a:avLst/>
          </a:prstGeom>
        </p:spPr>
      </p:pic>
      <p:sp>
        <p:nvSpPr>
          <p:cNvPr id="22" name="Text 19"/>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3" name="Text 20"/>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37744"/>
            <a:ext cx="8229600" cy="164592"/>
          </a:xfrm>
          <a:prstGeom prst="rect">
            <a:avLst/>
          </a:prstGeom>
          <a:noFill/>
          <a:ln/>
        </p:spPr>
        <p:txBody>
          <a:bodyPr wrap="square" lIns="0" tIns="0" rIns="0" bIns="0" rtlCol="0" anchor="ctr"/>
          <a:lstStyle/>
          <a:p>
            <a:pPr indent="0" marL="0">
              <a:buNone/>
            </a:pPr>
            <a:r>
              <a:rPr lang="en-US" sz="1000" b="1" spc="240" kern="0" dirty="0">
                <a:solidFill>
                  <a:srgbClr val="1E5D5E"/>
                </a:solidFill>
                <a:latin typeface="Manrope" pitchFamily="34" charset="0"/>
                <a:ea typeface="Manrope" pitchFamily="34" charset="-122"/>
                <a:cs typeface="Manrope" pitchFamily="34" charset="-120"/>
              </a:rPr>
              <a:t>WHAT WE KNOW SO FAR</a:t>
            </a:r>
            <a:endParaRPr lang="en-US" sz="1000" dirty="0"/>
          </a:p>
        </p:txBody>
      </p:sp>
      <p:sp>
        <p:nvSpPr>
          <p:cNvPr id="3" name="Shape 1"/>
          <p:cNvSpPr/>
          <p:nvPr/>
        </p:nvSpPr>
        <p:spPr>
          <a:xfrm>
            <a:off x="457200" y="438912"/>
            <a:ext cx="8229600" cy="0"/>
          </a:xfrm>
          <a:prstGeom prst="line">
            <a:avLst/>
          </a:prstGeom>
          <a:noFill/>
          <a:ln w="12700">
            <a:solidFill>
              <a:srgbClr val="D9CFC3"/>
            </a:solidFill>
            <a:prstDash val="solid"/>
          </a:ln>
        </p:spPr>
      </p:sp>
      <p:sp>
        <p:nvSpPr>
          <p:cNvPr id="4" name="Text 2"/>
          <p:cNvSpPr/>
          <p:nvPr/>
        </p:nvSpPr>
        <p:spPr>
          <a:xfrm>
            <a:off x="457200" y="493776"/>
            <a:ext cx="8229600" cy="841248"/>
          </a:xfrm>
          <a:prstGeom prst="rect">
            <a:avLst/>
          </a:prstGeom>
          <a:noFill/>
          <a:ln/>
        </p:spPr>
        <p:txBody>
          <a:bodyPr wrap="square" lIns="0" tIns="0" rIns="0" bIns="0" rtlCol="0" anchor="ctr"/>
          <a:lstStyle/>
          <a:p>
            <a:pPr indent="0" marL="0">
              <a:lnSpc>
                <a:spcPct val="104000"/>
              </a:lnSpc>
              <a:buNone/>
            </a:pPr>
            <a:r>
              <a:rPr lang="en-US" sz="2000" dirty="0">
                <a:solidFill>
                  <a:srgbClr val="183143"/>
                </a:solidFill>
                <a:latin typeface="DM Serif Display" pitchFamily="34" charset="0"/>
                <a:ea typeface="DM Serif Display" pitchFamily="34" charset="-122"/>
                <a:cs typeface="DM Serif Display" pitchFamily="34" charset="-120"/>
              </a:rPr>
              <a:t>Recruitment firms will test agentic workflows that give their teams more time back to sell every day</a:t>
            </a:r>
            <a:endParaRPr lang="en-US" sz="2000" dirty="0"/>
          </a:p>
        </p:txBody>
      </p:sp>
      <p:sp>
        <p:nvSpPr>
          <p:cNvPr id="5" name="Shape 3"/>
          <p:cNvSpPr/>
          <p:nvPr/>
        </p:nvSpPr>
        <p:spPr>
          <a:xfrm>
            <a:off x="457200" y="1481328"/>
            <a:ext cx="5074920" cy="2944368"/>
          </a:xfrm>
          <a:prstGeom prst="roundRect">
            <a:avLst>
              <a:gd name="adj" fmla="val 1553"/>
            </a:avLst>
          </a:prstGeom>
          <a:solidFill>
            <a:srgbClr val="FFFCFA"/>
          </a:solidFill>
          <a:ln w="12700">
            <a:solidFill>
              <a:srgbClr val="D9CFC3"/>
            </a:solidFill>
            <a:prstDash val="solid"/>
          </a:ln>
        </p:spPr>
      </p:sp>
      <p:sp>
        <p:nvSpPr>
          <p:cNvPr id="6" name="Text 4"/>
          <p:cNvSpPr/>
          <p:nvPr/>
        </p:nvSpPr>
        <p:spPr>
          <a:xfrm>
            <a:off x="694944" y="1627632"/>
            <a:ext cx="4663440" cy="182880"/>
          </a:xfrm>
          <a:prstGeom prst="rect">
            <a:avLst/>
          </a:prstGeom>
          <a:noFill/>
          <a:ln/>
        </p:spPr>
        <p:txBody>
          <a:bodyPr wrap="square" lIns="0" tIns="0" rIns="0" bIns="0" rtlCol="0" anchor="ctr"/>
          <a:lstStyle/>
          <a:p>
            <a:pPr indent="0" marL="0">
              <a:buNone/>
            </a:pPr>
            <a:r>
              <a:rPr lang="en-US" sz="1050" b="1" spc="140" kern="0" dirty="0">
                <a:solidFill>
                  <a:srgbClr val="1E5D5E"/>
                </a:solidFill>
                <a:latin typeface="Manrope" pitchFamily="34" charset="0"/>
                <a:ea typeface="Manrope" pitchFamily="34" charset="-122"/>
                <a:cs typeface="Manrope" pitchFamily="34" charset="-120"/>
              </a:rPr>
              <a:t>FROM ONE FIELD CONVERSATION</a:t>
            </a:r>
            <a:endParaRPr lang="en-US" sz="1050" dirty="0"/>
          </a:p>
        </p:txBody>
      </p:sp>
      <p:sp>
        <p:nvSpPr>
          <p:cNvPr id="7" name="Text 5"/>
          <p:cNvSpPr/>
          <p:nvPr/>
        </p:nvSpPr>
        <p:spPr>
          <a:xfrm>
            <a:off x="694944" y="1883664"/>
            <a:ext cx="4663440" cy="566928"/>
          </a:xfrm>
          <a:prstGeom prst="rect">
            <a:avLst/>
          </a:prstGeom>
          <a:noFill/>
          <a:ln/>
        </p:spPr>
        <p:txBody>
          <a:bodyPr wrap="square" lIns="0" tIns="0" rIns="0" bIns="0" rtlCol="0" anchor="ctr"/>
          <a:lstStyle/>
          <a:p>
            <a:pPr indent="0" marL="0">
              <a:buNone/>
            </a:pPr>
            <a:r>
              <a:rPr lang="en-US" sz="3600" dirty="0">
                <a:solidFill>
                  <a:srgbClr val="ED6A4A"/>
                </a:solidFill>
                <a:latin typeface="DM Serif Display" pitchFamily="34" charset="0"/>
                <a:ea typeface="DM Serif Display" pitchFamily="34" charset="-122"/>
                <a:cs typeface="DM Serif Display" pitchFamily="34" charset="-120"/>
              </a:rPr>
              <a:t>~2 hours gained</a:t>
            </a:r>
            <a:endParaRPr lang="en-US" sz="3600" dirty="0"/>
          </a:p>
        </p:txBody>
      </p:sp>
      <p:sp>
        <p:nvSpPr>
          <p:cNvPr id="8" name="Text 6"/>
          <p:cNvSpPr/>
          <p:nvPr/>
        </p:nvSpPr>
        <p:spPr>
          <a:xfrm>
            <a:off x="694944" y="2523744"/>
            <a:ext cx="4663440" cy="658368"/>
          </a:xfrm>
          <a:prstGeom prst="rect">
            <a:avLst/>
          </a:prstGeom>
          <a:noFill/>
          <a:ln/>
        </p:spPr>
        <p:txBody>
          <a:bodyPr wrap="square" lIns="0" tIns="0" rIns="0" bIns="0" rtlCol="0" anchor="ctr"/>
          <a:lstStyle/>
          <a:p>
            <a:pPr indent="0" marL="0">
              <a:lnSpc>
                <a:spcPct val="124000"/>
              </a:lnSpc>
              <a:buNone/>
            </a:pPr>
            <a:r>
              <a:rPr lang="en-US" sz="1300" dirty="0">
                <a:solidFill>
                  <a:srgbClr val="183143"/>
                </a:solidFill>
                <a:latin typeface="Manrope" pitchFamily="34" charset="0"/>
                <a:ea typeface="Manrope" pitchFamily="34" charset="-122"/>
                <a:cs typeface="Manrope" pitchFamily="34" charset="-120"/>
              </a:rPr>
              <a:t>per candidate — time that today goes into rereading CVs and handling laborious administration.</a:t>
            </a:r>
            <a:endParaRPr lang="en-US" sz="1300" dirty="0"/>
          </a:p>
        </p:txBody>
      </p:sp>
      <p:sp>
        <p:nvSpPr>
          <p:cNvPr id="9" name="Text 7"/>
          <p:cNvSpPr/>
          <p:nvPr/>
        </p:nvSpPr>
        <p:spPr>
          <a:xfrm>
            <a:off x="694944" y="3255264"/>
            <a:ext cx="4663440" cy="914400"/>
          </a:xfrm>
          <a:prstGeom prst="rect">
            <a:avLst/>
          </a:prstGeom>
          <a:noFill/>
          <a:ln/>
        </p:spPr>
        <p:txBody>
          <a:bodyPr wrap="square" lIns="0" tIns="0" rIns="0" bIns="0" rtlCol="0" anchor="ctr"/>
          <a:lstStyle/>
          <a:p>
            <a:pPr indent="0" marL="0">
              <a:lnSpc>
                <a:spcPct val="124000"/>
              </a:lnSpc>
              <a:buNone/>
            </a:pPr>
            <a:r>
              <a:rPr lang="en-US" sz="1300" dirty="0">
                <a:solidFill>
                  <a:srgbClr val="49606D"/>
                </a:solidFill>
                <a:latin typeface="Manrope" pitchFamily="34" charset="0"/>
                <a:ea typeface="Manrope" pitchFamily="34" charset="-122"/>
                <a:cs typeface="Manrope" pitchFamily="34" charset="-120"/>
              </a:rPr>
              <a:t>This was one conversation with an employment agent. An estimate here of SkillsAtlas being beneficial.</a:t>
            </a:r>
            <a:endParaRPr lang="en-US" sz="1300" dirty="0"/>
          </a:p>
        </p:txBody>
      </p:sp>
      <p:sp>
        <p:nvSpPr>
          <p:cNvPr id="10" name="Text 8"/>
          <p:cNvSpPr/>
          <p:nvPr/>
        </p:nvSpPr>
        <p:spPr>
          <a:xfrm>
            <a:off x="5715000" y="1591056"/>
            <a:ext cx="2971800" cy="182880"/>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FIT</a:t>
            </a:r>
            <a:endParaRPr lang="en-US" sz="1050" dirty="0"/>
          </a:p>
        </p:txBody>
      </p:sp>
      <p:sp>
        <p:nvSpPr>
          <p:cNvPr id="11" name="Text 9"/>
          <p:cNvSpPr/>
          <p:nvPr/>
        </p:nvSpPr>
        <p:spPr>
          <a:xfrm>
            <a:off x="5715000" y="1810512"/>
            <a:ext cx="2971800" cy="530352"/>
          </a:xfrm>
          <a:prstGeom prst="rect">
            <a:avLst/>
          </a:prstGeom>
          <a:noFill/>
          <a:ln/>
        </p:spPr>
        <p:txBody>
          <a:bodyPr wrap="square" lIns="0" tIns="0" rIns="0" bIns="0" rtlCol="0" anchor="ctr"/>
          <a:lstStyle/>
          <a:p>
            <a:pPr indent="0" marL="0">
              <a:buNone/>
            </a:pPr>
            <a:r>
              <a:rPr lang="en-US" sz="1300" dirty="0">
                <a:solidFill>
                  <a:srgbClr val="183143"/>
                </a:solidFill>
                <a:latin typeface="Manrope" pitchFamily="34" charset="0"/>
                <a:ea typeface="Manrope" pitchFamily="34" charset="-122"/>
                <a:cs typeface="Manrope" pitchFamily="34" charset="-120"/>
              </a:rPr>
              <a:t>Will SkillsAtlas fit their existing workflow?</a:t>
            </a:r>
            <a:endParaRPr lang="en-US" sz="1300" dirty="0"/>
          </a:p>
        </p:txBody>
      </p:sp>
      <p:sp>
        <p:nvSpPr>
          <p:cNvPr id="12" name="Shape 10"/>
          <p:cNvSpPr/>
          <p:nvPr/>
        </p:nvSpPr>
        <p:spPr>
          <a:xfrm>
            <a:off x="5715000" y="2468880"/>
            <a:ext cx="2971800" cy="0"/>
          </a:xfrm>
          <a:prstGeom prst="line">
            <a:avLst/>
          </a:prstGeom>
          <a:noFill/>
          <a:ln w="12700">
            <a:solidFill>
              <a:srgbClr val="D9CFC3"/>
            </a:solidFill>
            <a:prstDash val="solid"/>
          </a:ln>
        </p:spPr>
      </p:sp>
      <p:sp>
        <p:nvSpPr>
          <p:cNvPr id="13" name="Text 11"/>
          <p:cNvSpPr/>
          <p:nvPr/>
        </p:nvSpPr>
        <p:spPr>
          <a:xfrm>
            <a:off x="5715000" y="2578608"/>
            <a:ext cx="2971800" cy="182880"/>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BOARD</a:t>
            </a:r>
            <a:endParaRPr lang="en-US" sz="1050" dirty="0"/>
          </a:p>
        </p:txBody>
      </p:sp>
      <p:sp>
        <p:nvSpPr>
          <p:cNvPr id="14" name="Text 12"/>
          <p:cNvSpPr/>
          <p:nvPr/>
        </p:nvSpPr>
        <p:spPr>
          <a:xfrm>
            <a:off x="5715000" y="2798064"/>
            <a:ext cx="2971800" cy="530352"/>
          </a:xfrm>
          <a:prstGeom prst="rect">
            <a:avLst/>
          </a:prstGeom>
          <a:noFill/>
          <a:ln/>
        </p:spPr>
        <p:txBody>
          <a:bodyPr wrap="square" lIns="0" tIns="0" rIns="0" bIns="0" rtlCol="0" anchor="ctr"/>
          <a:lstStyle/>
          <a:p>
            <a:pPr indent="0" marL="0">
              <a:buNone/>
            </a:pPr>
            <a:r>
              <a:rPr lang="en-US" sz="1300" dirty="0">
                <a:solidFill>
                  <a:srgbClr val="183143"/>
                </a:solidFill>
                <a:latin typeface="Manrope" pitchFamily="34" charset="0"/>
                <a:ea typeface="Manrope" pitchFamily="34" charset="-122"/>
                <a:cs typeface="Manrope" pitchFamily="34" charset="-120"/>
              </a:rPr>
              <a:t>Does the person leave with a useful page?</a:t>
            </a:r>
            <a:endParaRPr lang="en-US" sz="1300" dirty="0"/>
          </a:p>
        </p:txBody>
      </p:sp>
      <p:sp>
        <p:nvSpPr>
          <p:cNvPr id="15" name="Shape 13"/>
          <p:cNvSpPr/>
          <p:nvPr/>
        </p:nvSpPr>
        <p:spPr>
          <a:xfrm>
            <a:off x="5715000" y="3456432"/>
            <a:ext cx="2971800" cy="0"/>
          </a:xfrm>
          <a:prstGeom prst="line">
            <a:avLst/>
          </a:prstGeom>
          <a:noFill/>
          <a:ln w="12700">
            <a:solidFill>
              <a:srgbClr val="D9CFC3"/>
            </a:solidFill>
            <a:prstDash val="solid"/>
          </a:ln>
        </p:spPr>
      </p:sp>
      <p:sp>
        <p:nvSpPr>
          <p:cNvPr id="16" name="Text 14"/>
          <p:cNvSpPr/>
          <p:nvPr/>
        </p:nvSpPr>
        <p:spPr>
          <a:xfrm>
            <a:off x="5715000" y="3566160"/>
            <a:ext cx="2971800" cy="182880"/>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PAY</a:t>
            </a:r>
            <a:endParaRPr lang="en-US" sz="1050" dirty="0"/>
          </a:p>
        </p:txBody>
      </p:sp>
      <p:sp>
        <p:nvSpPr>
          <p:cNvPr id="17" name="Text 15"/>
          <p:cNvSpPr/>
          <p:nvPr/>
        </p:nvSpPr>
        <p:spPr>
          <a:xfrm>
            <a:off x="5715000" y="3785616"/>
            <a:ext cx="2971800" cy="530352"/>
          </a:xfrm>
          <a:prstGeom prst="rect">
            <a:avLst/>
          </a:prstGeom>
          <a:noFill/>
          <a:ln/>
        </p:spPr>
        <p:txBody>
          <a:bodyPr wrap="square" lIns="0" tIns="0" rIns="0" bIns="0" rtlCol="0" anchor="ctr"/>
          <a:lstStyle/>
          <a:p>
            <a:pPr indent="0" marL="0">
              <a:buNone/>
            </a:pPr>
            <a:r>
              <a:rPr lang="en-US" sz="1300" dirty="0">
                <a:solidFill>
                  <a:srgbClr val="183143"/>
                </a:solidFill>
                <a:latin typeface="Manrope" pitchFamily="34" charset="0"/>
                <a:ea typeface="Manrope" pitchFamily="34" charset="-122"/>
                <a:cs typeface="Manrope" pitchFamily="34" charset="-120"/>
              </a:rPr>
              <a:t>How much will the organisation host and pay?</a:t>
            </a:r>
            <a:endParaRPr lang="en-US" sz="1300" dirty="0"/>
          </a:p>
        </p:txBody>
      </p:sp>
      <p:pic>
        <p:nvPicPr>
          <p:cNvPr id="18" name="Image 0" descr="C:\Users\IKARUS\Desktop\CURSOR PROJECTS\skillsatlas_main\scripts\deck\assets\atlas-mark.png">    </p:cNvPr>
          <p:cNvPicPr>
            <a:picLocks noChangeAspect="1"/>
          </p:cNvPicPr>
          <p:nvPr/>
        </p:nvPicPr>
        <p:blipFill>
          <a:blip r:embed="rId1"/>
          <a:stretch>
            <a:fillRect/>
          </a:stretch>
        </p:blipFill>
        <p:spPr>
          <a:xfrm>
            <a:off x="457200" y="4846320"/>
            <a:ext cx="146304" cy="146304"/>
          </a:xfrm>
          <a:prstGeom prst="rect">
            <a:avLst/>
          </a:prstGeom>
        </p:spPr>
      </p:pic>
      <p:sp>
        <p:nvSpPr>
          <p:cNvPr id="19" name="Text 16"/>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0" name="Text 17"/>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37744"/>
            <a:ext cx="8229600" cy="164592"/>
          </a:xfrm>
          <a:prstGeom prst="rect">
            <a:avLst/>
          </a:prstGeom>
          <a:noFill/>
          <a:ln/>
        </p:spPr>
        <p:txBody>
          <a:bodyPr wrap="square" lIns="0" tIns="0" rIns="0" bIns="0" rtlCol="0" anchor="ctr"/>
          <a:lstStyle/>
          <a:p>
            <a:pPr indent="0" marL="0">
              <a:buNone/>
            </a:pPr>
            <a:r>
              <a:rPr lang="en-US" sz="1000" b="1" spc="240" kern="0" dirty="0">
                <a:solidFill>
                  <a:srgbClr val="1E5D5E"/>
                </a:solidFill>
                <a:latin typeface="Manrope" pitchFamily="34" charset="0"/>
                <a:ea typeface="Manrope" pitchFamily="34" charset="-122"/>
                <a:cs typeface="Manrope" pitchFamily="34" charset="-120"/>
              </a:rPr>
              <a:t>THE TEAM</a:t>
            </a:r>
            <a:endParaRPr lang="en-US" sz="1000" dirty="0"/>
          </a:p>
        </p:txBody>
      </p:sp>
      <p:sp>
        <p:nvSpPr>
          <p:cNvPr id="3" name="Shape 1"/>
          <p:cNvSpPr/>
          <p:nvPr/>
        </p:nvSpPr>
        <p:spPr>
          <a:xfrm>
            <a:off x="457200" y="438912"/>
            <a:ext cx="8229600" cy="0"/>
          </a:xfrm>
          <a:prstGeom prst="line">
            <a:avLst/>
          </a:prstGeom>
          <a:noFill/>
          <a:ln w="12700">
            <a:solidFill>
              <a:srgbClr val="D9CFC3"/>
            </a:solidFill>
            <a:prstDash val="solid"/>
          </a:ln>
        </p:spPr>
      </p:sp>
      <p:sp>
        <p:nvSpPr>
          <p:cNvPr id="4" name="Text 2"/>
          <p:cNvSpPr/>
          <p:nvPr/>
        </p:nvSpPr>
        <p:spPr>
          <a:xfrm>
            <a:off x="457200" y="493776"/>
            <a:ext cx="8229600" cy="420624"/>
          </a:xfrm>
          <a:prstGeom prst="rect">
            <a:avLst/>
          </a:prstGeom>
          <a:noFill/>
          <a:ln/>
        </p:spPr>
        <p:txBody>
          <a:bodyPr wrap="square" lIns="0" tIns="0" rIns="0" bIns="0" rtlCol="0" anchor="ctr"/>
          <a:lstStyle/>
          <a:p>
            <a:pPr indent="0" marL="0">
              <a:lnSpc>
                <a:spcPct val="104000"/>
              </a:lnSpc>
              <a:buNone/>
            </a:pPr>
            <a:r>
              <a:rPr lang="en-US" sz="2800" dirty="0">
                <a:solidFill>
                  <a:srgbClr val="183143"/>
                </a:solidFill>
                <a:latin typeface="DM Serif Display" pitchFamily="34" charset="0"/>
                <a:ea typeface="DM Serif Display" pitchFamily="34" charset="-122"/>
                <a:cs typeface="DM Serif Display" pitchFamily="34" charset="-120"/>
              </a:rPr>
              <a:t>Challenge team RedeployMate.</a:t>
            </a:r>
            <a:endParaRPr lang="en-US" sz="2800" dirty="0"/>
          </a:p>
        </p:txBody>
      </p:sp>
      <p:pic>
        <p:nvPicPr>
          <p:cNvPr id="5" name="Image 0" descr="C:\Users\IKARUS\Desktop\CURSOR PROJECTS\skillsatlas_main\scripts\deck\assets\team\andrew.png">    </p:cNvPr>
          <p:cNvPicPr>
            <a:picLocks noChangeAspect="1"/>
          </p:cNvPicPr>
          <p:nvPr/>
        </p:nvPicPr>
        <p:blipFill>
          <a:blip r:embed="rId1"/>
          <a:stretch>
            <a:fillRect/>
          </a:stretch>
        </p:blipFill>
        <p:spPr>
          <a:xfrm>
            <a:off x="658368" y="1298448"/>
            <a:ext cx="1170432" cy="1170432"/>
          </a:xfrm>
          <a:prstGeom prst="rect">
            <a:avLst/>
          </a:prstGeom>
        </p:spPr>
      </p:pic>
      <p:sp>
        <p:nvSpPr>
          <p:cNvPr id="6" name="Text 3"/>
          <p:cNvSpPr/>
          <p:nvPr/>
        </p:nvSpPr>
        <p:spPr>
          <a:xfrm>
            <a:off x="457200" y="2615184"/>
            <a:ext cx="1572768" cy="274320"/>
          </a:xfrm>
          <a:prstGeom prst="rect">
            <a:avLst/>
          </a:prstGeom>
          <a:noFill/>
          <a:ln/>
        </p:spPr>
        <p:txBody>
          <a:bodyPr wrap="square" lIns="0" tIns="0" rIns="0" bIns="0" rtlCol="0" anchor="ctr"/>
          <a:lstStyle/>
          <a:p>
            <a:pPr algn="ctr" indent="0" marL="0">
              <a:buNone/>
            </a:pPr>
            <a:r>
              <a:rPr lang="en-US" sz="1400" b="1" dirty="0">
                <a:solidFill>
                  <a:srgbClr val="183143"/>
                </a:solidFill>
                <a:latin typeface="Manrope" pitchFamily="34" charset="0"/>
                <a:ea typeface="Manrope" pitchFamily="34" charset="-122"/>
                <a:cs typeface="Manrope" pitchFamily="34" charset="-120"/>
              </a:rPr>
              <a:t>Andrew</a:t>
            </a:r>
            <a:endParaRPr lang="en-US" sz="1400" dirty="0"/>
          </a:p>
        </p:txBody>
      </p:sp>
      <p:sp>
        <p:nvSpPr>
          <p:cNvPr id="7" name="Text 4"/>
          <p:cNvSpPr/>
          <p:nvPr/>
        </p:nvSpPr>
        <p:spPr>
          <a:xfrm>
            <a:off x="457200" y="2907792"/>
            <a:ext cx="1572768" cy="731520"/>
          </a:xfrm>
          <a:prstGeom prst="rect">
            <a:avLst/>
          </a:prstGeom>
          <a:noFill/>
          <a:ln/>
        </p:spPr>
        <p:txBody>
          <a:bodyPr wrap="square" lIns="0" tIns="0" rIns="0" bIns="0" rtlCol="0" anchor="ctr"/>
          <a:lstStyle/>
          <a:p>
            <a:pPr algn="ctr" indent="0" marL="0">
              <a:buNone/>
            </a:pPr>
            <a:r>
              <a:rPr lang="en-US" sz="1200" dirty="0">
                <a:solidFill>
                  <a:srgbClr val="49606D"/>
                </a:solidFill>
                <a:latin typeface="Manrope" pitchFamily="34" charset="0"/>
                <a:ea typeface="Manrope" pitchFamily="34" charset="-122"/>
                <a:cs typeface="Manrope" pitchFamily="34" charset="-120"/>
              </a:rPr>
              <a:t>Team lead.</a:t>
            </a:r>
            <a:endParaRPr lang="en-US" sz="1200" dirty="0"/>
          </a:p>
          <a:p>
            <a:pPr algn="ctr" indent="0" marL="0">
              <a:buNone/>
            </a:pPr>
            <a:r>
              <a:rPr lang="en-US" sz="1200" dirty="0">
                <a:solidFill>
                  <a:srgbClr val="49606D"/>
                </a:solidFill>
                <a:latin typeface="Manrope" pitchFamily="34" charset="0"/>
                <a:ea typeface="Manrope" pitchFamily="34" charset="-122"/>
                <a:cs typeface="Manrope" pitchFamily="34" charset="-120"/>
              </a:rPr>
              <a:t>AI Product builder. UX</a:t>
            </a:r>
            <a:endParaRPr lang="en-US" sz="1200" dirty="0"/>
          </a:p>
        </p:txBody>
      </p:sp>
      <p:pic>
        <p:nvPicPr>
          <p:cNvPr id="8" name="Image 1" descr="C:\Users\IKARUS\Desktop\CURSOR PROJECTS\skillsatlas_main\scripts\deck\assets\team\brigitte.png">    </p:cNvPr>
          <p:cNvPicPr>
            <a:picLocks noChangeAspect="1"/>
          </p:cNvPicPr>
          <p:nvPr/>
        </p:nvPicPr>
        <p:blipFill>
          <a:blip r:embed="rId2"/>
          <a:stretch>
            <a:fillRect/>
          </a:stretch>
        </p:blipFill>
        <p:spPr>
          <a:xfrm>
            <a:off x="2322576" y="1298448"/>
            <a:ext cx="1170432" cy="1170432"/>
          </a:xfrm>
          <a:prstGeom prst="rect">
            <a:avLst/>
          </a:prstGeom>
        </p:spPr>
      </p:pic>
      <p:sp>
        <p:nvSpPr>
          <p:cNvPr id="9" name="Text 5"/>
          <p:cNvSpPr/>
          <p:nvPr/>
        </p:nvSpPr>
        <p:spPr>
          <a:xfrm>
            <a:off x="2121408" y="2615184"/>
            <a:ext cx="1572768" cy="274320"/>
          </a:xfrm>
          <a:prstGeom prst="rect">
            <a:avLst/>
          </a:prstGeom>
          <a:noFill/>
          <a:ln/>
        </p:spPr>
        <p:txBody>
          <a:bodyPr wrap="square" lIns="0" tIns="0" rIns="0" bIns="0" rtlCol="0" anchor="ctr"/>
          <a:lstStyle/>
          <a:p>
            <a:pPr algn="ctr" indent="0" marL="0">
              <a:buNone/>
            </a:pPr>
            <a:r>
              <a:rPr lang="en-US" sz="1400" b="1" dirty="0">
                <a:solidFill>
                  <a:srgbClr val="183143"/>
                </a:solidFill>
                <a:latin typeface="Manrope" pitchFamily="34" charset="0"/>
                <a:ea typeface="Manrope" pitchFamily="34" charset="-122"/>
                <a:cs typeface="Manrope" pitchFamily="34" charset="-120"/>
              </a:rPr>
              <a:t>Brigitte</a:t>
            </a:r>
            <a:endParaRPr lang="en-US" sz="1400" dirty="0"/>
          </a:p>
        </p:txBody>
      </p:sp>
      <p:sp>
        <p:nvSpPr>
          <p:cNvPr id="10" name="Text 6"/>
          <p:cNvSpPr/>
          <p:nvPr/>
        </p:nvSpPr>
        <p:spPr>
          <a:xfrm>
            <a:off x="2121408" y="2907792"/>
            <a:ext cx="1572768" cy="731520"/>
          </a:xfrm>
          <a:prstGeom prst="rect">
            <a:avLst/>
          </a:prstGeom>
          <a:noFill/>
          <a:ln/>
        </p:spPr>
        <p:txBody>
          <a:bodyPr wrap="square" lIns="0" tIns="0" rIns="0" bIns="0" rtlCol="0" anchor="ctr"/>
          <a:lstStyle/>
          <a:p>
            <a:pPr algn="ctr" indent="0" marL="0">
              <a:buNone/>
            </a:pPr>
            <a:r>
              <a:rPr lang="en-US" sz="1200" dirty="0">
                <a:solidFill>
                  <a:srgbClr val="49606D"/>
                </a:solidFill>
                <a:latin typeface="Manrope" pitchFamily="34" charset="0"/>
                <a:ea typeface="Manrope" pitchFamily="34" charset="-122"/>
                <a:cs typeface="Manrope" pitchFamily="34" charset="-120"/>
              </a:rPr>
              <a:t>HR consultant</a:t>
            </a:r>
            <a:endParaRPr lang="en-US" sz="1200" dirty="0"/>
          </a:p>
        </p:txBody>
      </p:sp>
      <p:pic>
        <p:nvPicPr>
          <p:cNvPr id="11" name="Image 2" descr="C:\Users\IKARUS\Desktop\CURSOR PROJECTS\skillsatlas_main\scripts\deck\assets\team\don.png">    </p:cNvPr>
          <p:cNvPicPr>
            <a:picLocks noChangeAspect="1"/>
          </p:cNvPicPr>
          <p:nvPr/>
        </p:nvPicPr>
        <p:blipFill>
          <a:blip r:embed="rId3"/>
          <a:stretch>
            <a:fillRect/>
          </a:stretch>
        </p:blipFill>
        <p:spPr>
          <a:xfrm>
            <a:off x="3986784" y="1298448"/>
            <a:ext cx="1170432" cy="1170432"/>
          </a:xfrm>
          <a:prstGeom prst="rect">
            <a:avLst/>
          </a:prstGeom>
        </p:spPr>
      </p:pic>
      <p:sp>
        <p:nvSpPr>
          <p:cNvPr id="12" name="Text 7"/>
          <p:cNvSpPr/>
          <p:nvPr/>
        </p:nvSpPr>
        <p:spPr>
          <a:xfrm>
            <a:off x="3785616" y="2615184"/>
            <a:ext cx="1572768" cy="274320"/>
          </a:xfrm>
          <a:prstGeom prst="rect">
            <a:avLst/>
          </a:prstGeom>
          <a:noFill/>
          <a:ln/>
        </p:spPr>
        <p:txBody>
          <a:bodyPr wrap="square" lIns="0" tIns="0" rIns="0" bIns="0" rtlCol="0" anchor="ctr"/>
          <a:lstStyle/>
          <a:p>
            <a:pPr algn="ctr" indent="0" marL="0">
              <a:buNone/>
            </a:pPr>
            <a:r>
              <a:rPr lang="en-US" sz="1400" b="1" dirty="0">
                <a:solidFill>
                  <a:srgbClr val="183143"/>
                </a:solidFill>
                <a:latin typeface="Manrope" pitchFamily="34" charset="0"/>
                <a:ea typeface="Manrope" pitchFamily="34" charset="-122"/>
                <a:cs typeface="Manrope" pitchFamily="34" charset="-120"/>
              </a:rPr>
              <a:t>Don</a:t>
            </a:r>
            <a:endParaRPr lang="en-US" sz="1400" dirty="0"/>
          </a:p>
        </p:txBody>
      </p:sp>
      <p:sp>
        <p:nvSpPr>
          <p:cNvPr id="13" name="Text 8"/>
          <p:cNvSpPr/>
          <p:nvPr/>
        </p:nvSpPr>
        <p:spPr>
          <a:xfrm>
            <a:off x="3785616" y="2907792"/>
            <a:ext cx="1572768" cy="731520"/>
          </a:xfrm>
          <a:prstGeom prst="rect">
            <a:avLst/>
          </a:prstGeom>
          <a:noFill/>
          <a:ln/>
        </p:spPr>
        <p:txBody>
          <a:bodyPr wrap="square" lIns="0" tIns="0" rIns="0" bIns="0" rtlCol="0" anchor="ctr"/>
          <a:lstStyle/>
          <a:p>
            <a:pPr algn="ctr" indent="0" marL="0">
              <a:buNone/>
            </a:pPr>
            <a:r>
              <a:rPr lang="en-US" sz="1200" dirty="0">
                <a:solidFill>
                  <a:srgbClr val="49606D"/>
                </a:solidFill>
                <a:latin typeface="Manrope" pitchFamily="34" charset="0"/>
                <a:ea typeface="Manrope" pitchFamily="34" charset="-122"/>
                <a:cs typeface="Manrope" pitchFamily="34" charset="-120"/>
              </a:rPr>
              <a:t>Recruiter and Spoken story</a:t>
            </a:r>
            <a:endParaRPr lang="en-US" sz="1200" dirty="0"/>
          </a:p>
        </p:txBody>
      </p:sp>
      <p:pic>
        <p:nvPicPr>
          <p:cNvPr id="14" name="Image 3" descr="C:\Users\IKARUS\Desktop\CURSOR PROJECTS\skillsatlas_main\scripts\deck\assets\team\sophia.png">    </p:cNvPr>
          <p:cNvPicPr>
            <a:picLocks noChangeAspect="1"/>
          </p:cNvPicPr>
          <p:nvPr/>
        </p:nvPicPr>
        <p:blipFill>
          <a:blip r:embed="rId4"/>
          <a:stretch>
            <a:fillRect/>
          </a:stretch>
        </p:blipFill>
        <p:spPr>
          <a:xfrm>
            <a:off x="5650992" y="1298448"/>
            <a:ext cx="1170432" cy="1170432"/>
          </a:xfrm>
          <a:prstGeom prst="rect">
            <a:avLst/>
          </a:prstGeom>
        </p:spPr>
      </p:pic>
      <p:sp>
        <p:nvSpPr>
          <p:cNvPr id="15" name="Text 9"/>
          <p:cNvSpPr/>
          <p:nvPr/>
        </p:nvSpPr>
        <p:spPr>
          <a:xfrm>
            <a:off x="5449824" y="2615184"/>
            <a:ext cx="1572768" cy="274320"/>
          </a:xfrm>
          <a:prstGeom prst="rect">
            <a:avLst/>
          </a:prstGeom>
          <a:noFill/>
          <a:ln/>
        </p:spPr>
        <p:txBody>
          <a:bodyPr wrap="square" lIns="0" tIns="0" rIns="0" bIns="0" rtlCol="0" anchor="ctr"/>
          <a:lstStyle/>
          <a:p>
            <a:pPr algn="ctr" indent="0" marL="0">
              <a:buNone/>
            </a:pPr>
            <a:r>
              <a:rPr lang="en-US" sz="1400" b="1" dirty="0">
                <a:solidFill>
                  <a:srgbClr val="183143"/>
                </a:solidFill>
                <a:latin typeface="Manrope" pitchFamily="34" charset="0"/>
                <a:ea typeface="Manrope" pitchFamily="34" charset="-122"/>
                <a:cs typeface="Manrope" pitchFamily="34" charset="-120"/>
              </a:rPr>
              <a:t>Sophia</a:t>
            </a:r>
            <a:endParaRPr lang="en-US" sz="1400" dirty="0"/>
          </a:p>
        </p:txBody>
      </p:sp>
      <p:sp>
        <p:nvSpPr>
          <p:cNvPr id="16" name="Text 10"/>
          <p:cNvSpPr/>
          <p:nvPr/>
        </p:nvSpPr>
        <p:spPr>
          <a:xfrm>
            <a:off x="5449824" y="2907792"/>
            <a:ext cx="1572768" cy="731520"/>
          </a:xfrm>
          <a:prstGeom prst="rect">
            <a:avLst/>
          </a:prstGeom>
          <a:noFill/>
          <a:ln/>
        </p:spPr>
        <p:txBody>
          <a:bodyPr wrap="square" lIns="0" tIns="0" rIns="0" bIns="0" rtlCol="0" anchor="ctr"/>
          <a:lstStyle/>
          <a:p>
            <a:pPr algn="ctr" indent="0" marL="0">
              <a:buNone/>
            </a:pPr>
            <a:r>
              <a:rPr lang="en-US" sz="1200" dirty="0">
                <a:solidFill>
                  <a:srgbClr val="49606D"/>
                </a:solidFill>
                <a:latin typeface="Manrope" pitchFamily="34" charset="0"/>
                <a:ea typeface="Manrope" pitchFamily="34" charset="-122"/>
                <a:cs typeface="Manrope" pitchFamily="34" charset="-120"/>
              </a:rPr>
              <a:t>Business strategist</a:t>
            </a:r>
            <a:endParaRPr lang="en-US" sz="1200" dirty="0"/>
          </a:p>
        </p:txBody>
      </p:sp>
      <p:pic>
        <p:nvPicPr>
          <p:cNvPr id="17" name="Image 4" descr="C:\Users\IKARUS\Desktop\CURSOR PROJECTS\skillsatlas_main\scripts\deck\assets\team\sri-karan.png">    </p:cNvPr>
          <p:cNvPicPr>
            <a:picLocks noChangeAspect="1"/>
          </p:cNvPicPr>
          <p:nvPr/>
        </p:nvPicPr>
        <p:blipFill>
          <a:blip r:embed="rId5"/>
          <a:stretch>
            <a:fillRect/>
          </a:stretch>
        </p:blipFill>
        <p:spPr>
          <a:xfrm>
            <a:off x="7315200" y="1298448"/>
            <a:ext cx="1170432" cy="1170432"/>
          </a:xfrm>
          <a:prstGeom prst="rect">
            <a:avLst/>
          </a:prstGeom>
        </p:spPr>
      </p:pic>
      <p:sp>
        <p:nvSpPr>
          <p:cNvPr id="18" name="Text 11"/>
          <p:cNvSpPr/>
          <p:nvPr/>
        </p:nvSpPr>
        <p:spPr>
          <a:xfrm>
            <a:off x="7114032" y="2615184"/>
            <a:ext cx="1572768" cy="274320"/>
          </a:xfrm>
          <a:prstGeom prst="rect">
            <a:avLst/>
          </a:prstGeom>
          <a:noFill/>
          <a:ln/>
        </p:spPr>
        <p:txBody>
          <a:bodyPr wrap="square" lIns="0" tIns="0" rIns="0" bIns="0" rtlCol="0" anchor="ctr"/>
          <a:lstStyle/>
          <a:p>
            <a:pPr algn="ctr" indent="0" marL="0">
              <a:buNone/>
            </a:pPr>
            <a:r>
              <a:rPr lang="en-US" sz="1400" b="1" dirty="0">
                <a:solidFill>
                  <a:srgbClr val="183143"/>
                </a:solidFill>
                <a:latin typeface="Manrope" pitchFamily="34" charset="0"/>
                <a:ea typeface="Manrope" pitchFamily="34" charset="-122"/>
                <a:cs typeface="Manrope" pitchFamily="34" charset="-120"/>
              </a:rPr>
              <a:t>Sri Karan</a:t>
            </a:r>
            <a:endParaRPr lang="en-US" sz="1400" dirty="0"/>
          </a:p>
        </p:txBody>
      </p:sp>
      <p:sp>
        <p:nvSpPr>
          <p:cNvPr id="19" name="Text 12"/>
          <p:cNvSpPr/>
          <p:nvPr/>
        </p:nvSpPr>
        <p:spPr>
          <a:xfrm>
            <a:off x="7114032" y="2907792"/>
            <a:ext cx="1572768" cy="731520"/>
          </a:xfrm>
          <a:prstGeom prst="rect">
            <a:avLst/>
          </a:prstGeom>
          <a:noFill/>
          <a:ln/>
        </p:spPr>
        <p:txBody>
          <a:bodyPr wrap="square" lIns="0" tIns="0" rIns="0" bIns="0" rtlCol="0" anchor="ctr"/>
          <a:lstStyle/>
          <a:p>
            <a:pPr algn="ctr" indent="0" marL="0">
              <a:buNone/>
            </a:pPr>
            <a:r>
              <a:rPr lang="en-US" sz="1200" dirty="0">
                <a:solidFill>
                  <a:srgbClr val="49606D"/>
                </a:solidFill>
                <a:latin typeface="Manrope" pitchFamily="34" charset="0"/>
                <a:ea typeface="Manrope" pitchFamily="34" charset="-122"/>
                <a:cs typeface="Manrope" pitchFamily="34" charset="-120"/>
              </a:rPr>
              <a:t>Data Engineer</a:t>
            </a:r>
            <a:endParaRPr lang="en-US" sz="1200" dirty="0"/>
          </a:p>
        </p:txBody>
      </p:sp>
      <p:pic>
        <p:nvPicPr>
          <p:cNvPr id="20" name="Image 5" descr="C:\Users\IKARUS\Desktop\CURSOR PROJECTS\skillsatlas_main\scripts\deck\assets\atlas-mark.png">    </p:cNvPr>
          <p:cNvPicPr>
            <a:picLocks noChangeAspect="1"/>
          </p:cNvPicPr>
          <p:nvPr/>
        </p:nvPicPr>
        <p:blipFill>
          <a:blip r:embed="rId6"/>
          <a:stretch>
            <a:fillRect/>
          </a:stretch>
        </p:blipFill>
        <p:spPr>
          <a:xfrm>
            <a:off x="457200" y="4846320"/>
            <a:ext cx="146304" cy="146304"/>
          </a:xfrm>
          <a:prstGeom prst="rect">
            <a:avLst/>
          </a:prstGeom>
        </p:spPr>
      </p:pic>
      <p:sp>
        <p:nvSpPr>
          <p:cNvPr id="21" name="Text 13"/>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2" name="Text 14"/>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457200" y="237744"/>
            <a:ext cx="8229600" cy="164592"/>
          </a:xfrm>
          <a:prstGeom prst="rect">
            <a:avLst/>
          </a:prstGeom>
          <a:noFill/>
          <a:ln/>
        </p:spPr>
        <p:txBody>
          <a:bodyPr wrap="square" lIns="0" tIns="0" rIns="0" bIns="0" rtlCol="0" anchor="ctr"/>
          <a:lstStyle/>
          <a:p>
            <a:pPr indent="0" marL="0">
              <a:buNone/>
            </a:pPr>
            <a:r>
              <a:rPr lang="en-US" sz="1000" b="1" spc="240" kern="0" dirty="0">
                <a:solidFill>
                  <a:srgbClr val="1E5D5E"/>
                </a:solidFill>
                <a:latin typeface="Manrope" pitchFamily="34" charset="0"/>
                <a:ea typeface="Manrope" pitchFamily="34" charset="-122"/>
                <a:cs typeface="Manrope" pitchFamily="34" charset="-120"/>
              </a:rPr>
              <a:t>THE ROADMAP</a:t>
            </a:r>
            <a:endParaRPr lang="en-US" sz="1000" dirty="0"/>
          </a:p>
        </p:txBody>
      </p:sp>
      <p:sp>
        <p:nvSpPr>
          <p:cNvPr id="3" name="Shape 1"/>
          <p:cNvSpPr/>
          <p:nvPr/>
        </p:nvSpPr>
        <p:spPr>
          <a:xfrm>
            <a:off x="457200" y="438912"/>
            <a:ext cx="8229600" cy="0"/>
          </a:xfrm>
          <a:prstGeom prst="line">
            <a:avLst/>
          </a:prstGeom>
          <a:noFill/>
          <a:ln w="12700">
            <a:solidFill>
              <a:srgbClr val="D9CFC3"/>
            </a:solidFill>
            <a:prstDash val="solid"/>
          </a:ln>
        </p:spPr>
      </p:sp>
      <p:sp>
        <p:nvSpPr>
          <p:cNvPr id="4" name="Text 2"/>
          <p:cNvSpPr/>
          <p:nvPr/>
        </p:nvSpPr>
        <p:spPr>
          <a:xfrm>
            <a:off x="457200" y="493776"/>
            <a:ext cx="8229600" cy="402336"/>
          </a:xfrm>
          <a:prstGeom prst="rect">
            <a:avLst/>
          </a:prstGeom>
          <a:noFill/>
          <a:ln/>
        </p:spPr>
        <p:txBody>
          <a:bodyPr wrap="square" lIns="0" tIns="0" rIns="0" bIns="0" rtlCol="0" anchor="ctr"/>
          <a:lstStyle/>
          <a:p>
            <a:pPr indent="0" marL="0">
              <a:lnSpc>
                <a:spcPct val="104000"/>
              </a:lnSpc>
              <a:buNone/>
            </a:pPr>
            <a:r>
              <a:rPr lang="en-US" sz="2400" dirty="0">
                <a:solidFill>
                  <a:srgbClr val="183143"/>
                </a:solidFill>
                <a:latin typeface="DM Serif Display" pitchFamily="34" charset="0"/>
                <a:ea typeface="DM Serif Display" pitchFamily="34" charset="-122"/>
                <a:cs typeface="DM Serif Display" pitchFamily="34" charset="-120"/>
              </a:rPr>
              <a:t>From one guided sitting to connected recruitment.</a:t>
            </a:r>
            <a:endParaRPr lang="en-US" sz="2400" dirty="0"/>
          </a:p>
        </p:txBody>
      </p:sp>
      <p:sp>
        <p:nvSpPr>
          <p:cNvPr id="5" name="Text 3"/>
          <p:cNvSpPr/>
          <p:nvPr/>
        </p:nvSpPr>
        <p:spPr>
          <a:xfrm>
            <a:off x="457200" y="950976"/>
            <a:ext cx="8229600" cy="256032"/>
          </a:xfrm>
          <a:prstGeom prst="rect">
            <a:avLst/>
          </a:prstGeom>
          <a:noFill/>
          <a:ln/>
        </p:spPr>
        <p:txBody>
          <a:bodyPr wrap="square" lIns="0" tIns="0" rIns="0" bIns="0" rtlCol="0" anchor="ctr"/>
          <a:lstStyle/>
          <a:p>
            <a:pPr indent="0" marL="0">
              <a:buNone/>
            </a:pPr>
            <a:r>
              <a:rPr lang="en-US" sz="1300" dirty="0">
                <a:solidFill>
                  <a:srgbClr val="49606D"/>
                </a:solidFill>
                <a:latin typeface="Manrope" pitchFamily="34" charset="0"/>
                <a:ea typeface="Manrope" pitchFamily="34" charset="-122"/>
                <a:cs typeface="Manrope" pitchFamily="34" charset="-120"/>
              </a:rPr>
              <a:t>Next, SkillsAtlas can work with an agency’s existing CRM—not replace it.</a:t>
            </a:r>
            <a:endParaRPr lang="en-US" sz="1300" dirty="0"/>
          </a:p>
        </p:txBody>
      </p:sp>
      <p:sp>
        <p:nvSpPr>
          <p:cNvPr id="6" name="Shape 4"/>
          <p:cNvSpPr/>
          <p:nvPr/>
        </p:nvSpPr>
        <p:spPr>
          <a:xfrm>
            <a:off x="777240" y="1481328"/>
            <a:ext cx="7589520" cy="0"/>
          </a:xfrm>
          <a:prstGeom prst="line">
            <a:avLst/>
          </a:prstGeom>
          <a:noFill/>
          <a:ln w="12700">
            <a:solidFill>
              <a:srgbClr val="D9CFC3"/>
            </a:solidFill>
            <a:prstDash val="solid"/>
          </a:ln>
        </p:spPr>
      </p:sp>
      <p:sp>
        <p:nvSpPr>
          <p:cNvPr id="7" name="Text 5"/>
          <p:cNvSpPr/>
          <p:nvPr/>
        </p:nvSpPr>
        <p:spPr>
          <a:xfrm>
            <a:off x="530352" y="1371600"/>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01</a:t>
            </a:r>
            <a:endParaRPr lang="en-US" sz="1100" dirty="0"/>
          </a:p>
        </p:txBody>
      </p:sp>
      <p:sp>
        <p:nvSpPr>
          <p:cNvPr id="8" name="Text 6"/>
          <p:cNvSpPr/>
          <p:nvPr/>
        </p:nvSpPr>
        <p:spPr>
          <a:xfrm>
            <a:off x="530352" y="1664208"/>
            <a:ext cx="1920240" cy="457200"/>
          </a:xfrm>
          <a:prstGeom prst="rect">
            <a:avLst/>
          </a:prstGeom>
          <a:noFill/>
          <a:ln/>
        </p:spPr>
        <p:txBody>
          <a:bodyPr wrap="square" lIns="0" tIns="0" rIns="0" bIns="0" rtlCol="0" anchor="ctr"/>
          <a:lstStyle/>
          <a:p>
            <a:pPr indent="0" marL="0">
              <a:buNone/>
            </a:pPr>
            <a:r>
              <a:rPr lang="en-US" sz="1600" dirty="0">
                <a:solidFill>
                  <a:srgbClr val="183143"/>
                </a:solidFill>
                <a:latin typeface="DM Serif Display" pitchFamily="34" charset="0"/>
                <a:ea typeface="DM Serif Display" pitchFamily="34" charset="-122"/>
                <a:cs typeface="DM Serif Display" pitchFamily="34" charset="-120"/>
              </a:rPr>
              <a:t>Connect</a:t>
            </a:r>
            <a:endParaRPr lang="en-US" sz="1600" dirty="0"/>
          </a:p>
        </p:txBody>
      </p:sp>
      <p:sp>
        <p:nvSpPr>
          <p:cNvPr id="9" name="Text 7"/>
          <p:cNvSpPr/>
          <p:nvPr/>
        </p:nvSpPr>
        <p:spPr>
          <a:xfrm>
            <a:off x="530352" y="2157984"/>
            <a:ext cx="1920240" cy="1325880"/>
          </a:xfrm>
          <a:prstGeom prst="rect">
            <a:avLst/>
          </a:prstGeom>
          <a:noFill/>
          <a:ln/>
        </p:spPr>
        <p:txBody>
          <a:bodyPr wrap="square" lIns="0" tIns="0" rIns="0" bIns="0" rtlCol="0" anchor="ctr"/>
          <a:lstStyle/>
          <a:p>
            <a:pPr indent="0" marL="0">
              <a:lnSpc>
                <a:spcPct val="120000"/>
              </a:lnSpc>
              <a:buNone/>
            </a:pPr>
            <a:r>
              <a:rPr lang="en-US" sz="1200" dirty="0">
                <a:solidFill>
                  <a:srgbClr val="183143"/>
                </a:solidFill>
                <a:latin typeface="Manrope" pitchFamily="34" charset="0"/>
                <a:ea typeface="Manrope" pitchFamily="34" charset="-122"/>
                <a:cs typeface="Manrope" pitchFamily="34" charset="-120"/>
              </a:rPr>
              <a:t>Use MCP—a standard bridge—to connect SkillsAtlas with the agency’s existing systems.</a:t>
            </a:r>
            <a:endParaRPr lang="en-US" sz="1200" dirty="0"/>
          </a:p>
        </p:txBody>
      </p:sp>
      <p:sp>
        <p:nvSpPr>
          <p:cNvPr id="10" name="Text 8"/>
          <p:cNvSpPr/>
          <p:nvPr/>
        </p:nvSpPr>
        <p:spPr>
          <a:xfrm>
            <a:off x="2633472" y="1371600"/>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02</a:t>
            </a:r>
            <a:endParaRPr lang="en-US" sz="1100" dirty="0"/>
          </a:p>
        </p:txBody>
      </p:sp>
      <p:sp>
        <p:nvSpPr>
          <p:cNvPr id="11" name="Text 9"/>
          <p:cNvSpPr/>
          <p:nvPr/>
        </p:nvSpPr>
        <p:spPr>
          <a:xfrm>
            <a:off x="2633472" y="1664208"/>
            <a:ext cx="1920240" cy="457200"/>
          </a:xfrm>
          <a:prstGeom prst="rect">
            <a:avLst/>
          </a:prstGeom>
          <a:noFill/>
          <a:ln/>
        </p:spPr>
        <p:txBody>
          <a:bodyPr wrap="square" lIns="0" tIns="0" rIns="0" bIns="0" rtlCol="0" anchor="ctr"/>
          <a:lstStyle/>
          <a:p>
            <a:pPr indent="0" marL="0">
              <a:buNone/>
            </a:pPr>
            <a:r>
              <a:rPr lang="en-US" sz="1600" dirty="0">
                <a:solidFill>
                  <a:srgbClr val="183143"/>
                </a:solidFill>
                <a:latin typeface="DM Serif Display" pitchFamily="34" charset="0"/>
                <a:ea typeface="DM Serif Display" pitchFamily="34" charset="-122"/>
                <a:cs typeface="DM Serif Display" pitchFamily="34" charset="-120"/>
              </a:rPr>
              <a:t>Ask</a:t>
            </a:r>
            <a:endParaRPr lang="en-US" sz="1600" dirty="0"/>
          </a:p>
        </p:txBody>
      </p:sp>
      <p:sp>
        <p:nvSpPr>
          <p:cNvPr id="12" name="Text 10"/>
          <p:cNvSpPr/>
          <p:nvPr/>
        </p:nvSpPr>
        <p:spPr>
          <a:xfrm>
            <a:off x="2633472" y="2157984"/>
            <a:ext cx="1920240" cy="1325880"/>
          </a:xfrm>
          <a:prstGeom prst="rect">
            <a:avLst/>
          </a:prstGeom>
          <a:noFill/>
          <a:ln/>
        </p:spPr>
        <p:txBody>
          <a:bodyPr wrap="square" lIns="0" tIns="0" rIns="0" bIns="0" rtlCol="0" anchor="ctr"/>
          <a:lstStyle/>
          <a:p>
            <a:pPr indent="0" marL="0">
              <a:lnSpc>
                <a:spcPct val="120000"/>
              </a:lnSpc>
              <a:buNone/>
            </a:pPr>
            <a:r>
              <a:rPr lang="en-US" sz="1200" dirty="0">
                <a:solidFill>
                  <a:srgbClr val="183143"/>
                </a:solidFill>
                <a:latin typeface="Manrope" pitchFamily="34" charset="0"/>
                <a:ea typeface="Manrope" pitchFamily="34" charset="-122"/>
                <a:cs typeface="Manrope" pitchFamily="34" charset="-120"/>
              </a:rPr>
              <a:t>Search candidate records, vacancies and job descriptions by asking questions in plain English.</a:t>
            </a:r>
            <a:endParaRPr lang="en-US" sz="1200" dirty="0"/>
          </a:p>
        </p:txBody>
      </p:sp>
      <p:sp>
        <p:nvSpPr>
          <p:cNvPr id="13" name="Text 11"/>
          <p:cNvSpPr/>
          <p:nvPr/>
        </p:nvSpPr>
        <p:spPr>
          <a:xfrm>
            <a:off x="4736592" y="1371600"/>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03</a:t>
            </a:r>
            <a:endParaRPr lang="en-US" sz="1100" dirty="0"/>
          </a:p>
        </p:txBody>
      </p:sp>
      <p:sp>
        <p:nvSpPr>
          <p:cNvPr id="14" name="Text 12"/>
          <p:cNvSpPr/>
          <p:nvPr/>
        </p:nvSpPr>
        <p:spPr>
          <a:xfrm>
            <a:off x="4736592" y="1664208"/>
            <a:ext cx="1920240" cy="457200"/>
          </a:xfrm>
          <a:prstGeom prst="rect">
            <a:avLst/>
          </a:prstGeom>
          <a:noFill/>
          <a:ln/>
        </p:spPr>
        <p:txBody>
          <a:bodyPr wrap="square" lIns="0" tIns="0" rIns="0" bIns="0" rtlCol="0" anchor="ctr"/>
          <a:lstStyle/>
          <a:p>
            <a:pPr indent="0" marL="0">
              <a:buNone/>
            </a:pPr>
            <a:r>
              <a:rPr lang="en-US" sz="1600" dirty="0">
                <a:solidFill>
                  <a:srgbClr val="183143"/>
                </a:solidFill>
                <a:latin typeface="DM Serif Display" pitchFamily="34" charset="0"/>
                <a:ea typeface="DM Serif Display" pitchFamily="34" charset="-122"/>
                <a:cs typeface="DM Serif Display" pitchFamily="34" charset="-120"/>
              </a:rPr>
              <a:t>Close the gap</a:t>
            </a:r>
            <a:endParaRPr lang="en-US" sz="1600" dirty="0"/>
          </a:p>
        </p:txBody>
      </p:sp>
      <p:sp>
        <p:nvSpPr>
          <p:cNvPr id="15" name="Text 13"/>
          <p:cNvSpPr/>
          <p:nvPr/>
        </p:nvSpPr>
        <p:spPr>
          <a:xfrm>
            <a:off x="4736592" y="2157984"/>
            <a:ext cx="1920240" cy="1325880"/>
          </a:xfrm>
          <a:prstGeom prst="rect">
            <a:avLst/>
          </a:prstGeom>
          <a:noFill/>
          <a:ln/>
        </p:spPr>
        <p:txBody>
          <a:bodyPr wrap="square" lIns="0" tIns="0" rIns="0" bIns="0" rtlCol="0" anchor="ctr"/>
          <a:lstStyle/>
          <a:p>
            <a:pPr indent="0" marL="0">
              <a:lnSpc>
                <a:spcPct val="120000"/>
              </a:lnSpc>
              <a:buNone/>
            </a:pPr>
            <a:r>
              <a:rPr lang="en-US" sz="1200" dirty="0">
                <a:solidFill>
                  <a:srgbClr val="183143"/>
                </a:solidFill>
                <a:latin typeface="Manrope" pitchFamily="34" charset="0"/>
                <a:ea typeface="Manrope" pitchFamily="34" charset="-122"/>
                <a:cs typeface="Manrope" pitchFamily="34" charset="-120"/>
              </a:rPr>
              <a:t>Find candidates who are close to a role—and reveal the one skill or short course that could help them progress.</a:t>
            </a:r>
            <a:endParaRPr lang="en-US" sz="1200" dirty="0"/>
          </a:p>
        </p:txBody>
      </p:sp>
      <p:sp>
        <p:nvSpPr>
          <p:cNvPr id="16" name="Text 14"/>
          <p:cNvSpPr/>
          <p:nvPr/>
        </p:nvSpPr>
        <p:spPr>
          <a:xfrm>
            <a:off x="6839712" y="1371600"/>
            <a:ext cx="384048" cy="219456"/>
          </a:xfrm>
          <a:prstGeom prst="rect">
            <a:avLst/>
          </a:prstGeom>
          <a:noFill/>
          <a:ln/>
        </p:spPr>
        <p:txBody>
          <a:bodyPr wrap="square" lIns="0" tIns="0" rIns="0" bIns="0" rtlCol="0" anchor="ctr"/>
          <a:lstStyle/>
          <a:p>
            <a:pPr indent="0" marL="0">
              <a:buNone/>
            </a:pPr>
            <a:r>
              <a:rPr lang="en-US" sz="1100" b="1" spc="140" kern="0" dirty="0">
                <a:solidFill>
                  <a:srgbClr val="ED6A4A"/>
                </a:solidFill>
                <a:latin typeface="Manrope" pitchFamily="34" charset="0"/>
                <a:ea typeface="Manrope" pitchFamily="34" charset="-122"/>
                <a:cs typeface="Manrope" pitchFamily="34" charset="-120"/>
              </a:rPr>
              <a:t>04</a:t>
            </a:r>
            <a:endParaRPr lang="en-US" sz="1100" dirty="0"/>
          </a:p>
        </p:txBody>
      </p:sp>
      <p:sp>
        <p:nvSpPr>
          <p:cNvPr id="17" name="Text 15"/>
          <p:cNvSpPr/>
          <p:nvPr/>
        </p:nvSpPr>
        <p:spPr>
          <a:xfrm>
            <a:off x="6839712" y="1664208"/>
            <a:ext cx="1920240" cy="457200"/>
          </a:xfrm>
          <a:prstGeom prst="rect">
            <a:avLst/>
          </a:prstGeom>
          <a:noFill/>
          <a:ln/>
        </p:spPr>
        <p:txBody>
          <a:bodyPr wrap="square" lIns="0" tIns="0" rIns="0" bIns="0" rtlCol="0" anchor="ctr"/>
          <a:lstStyle/>
          <a:p>
            <a:pPr indent="0" marL="0">
              <a:buNone/>
            </a:pPr>
            <a:r>
              <a:rPr lang="en-US" sz="1600" dirty="0">
                <a:solidFill>
                  <a:srgbClr val="183143"/>
                </a:solidFill>
                <a:latin typeface="DM Serif Display" pitchFamily="34" charset="0"/>
                <a:ea typeface="DM Serif Display" pitchFamily="34" charset="-122"/>
                <a:cs typeface="DM Serif Display" pitchFamily="34" charset="-120"/>
              </a:rPr>
              <a:t>Reimagine</a:t>
            </a:r>
            <a:endParaRPr lang="en-US" sz="1600" dirty="0"/>
          </a:p>
        </p:txBody>
      </p:sp>
      <p:sp>
        <p:nvSpPr>
          <p:cNvPr id="18" name="Text 16"/>
          <p:cNvSpPr/>
          <p:nvPr/>
        </p:nvSpPr>
        <p:spPr>
          <a:xfrm>
            <a:off x="6839712" y="2157984"/>
            <a:ext cx="1920240" cy="1325880"/>
          </a:xfrm>
          <a:prstGeom prst="rect">
            <a:avLst/>
          </a:prstGeom>
          <a:noFill/>
          <a:ln/>
        </p:spPr>
        <p:txBody>
          <a:bodyPr wrap="square" lIns="0" tIns="0" rIns="0" bIns="0" rtlCol="0" anchor="ctr"/>
          <a:lstStyle/>
          <a:p>
            <a:pPr indent="0" marL="0">
              <a:lnSpc>
                <a:spcPct val="120000"/>
              </a:lnSpc>
              <a:buNone/>
            </a:pPr>
            <a:r>
              <a:rPr lang="en-US" sz="1200" dirty="0">
                <a:solidFill>
                  <a:srgbClr val="183143"/>
                </a:solidFill>
                <a:latin typeface="Manrope" pitchFamily="34" charset="0"/>
                <a:ea typeface="Manrope" pitchFamily="34" charset="-122"/>
                <a:cs typeface="Manrope" pitchFamily="34" charset="-120"/>
              </a:rPr>
              <a:t>Long term: an agent-to-agent marketplace where confirmed skills meet real hiring needs, with people in control.</a:t>
            </a:r>
            <a:endParaRPr lang="en-US" sz="1200" dirty="0"/>
          </a:p>
        </p:txBody>
      </p:sp>
      <p:sp>
        <p:nvSpPr>
          <p:cNvPr id="19" name="Shape 17"/>
          <p:cNvSpPr/>
          <p:nvPr/>
        </p:nvSpPr>
        <p:spPr>
          <a:xfrm>
            <a:off x="457200" y="3621024"/>
            <a:ext cx="8229600" cy="859536"/>
          </a:xfrm>
          <a:prstGeom prst="roundRect">
            <a:avLst>
              <a:gd name="adj" fmla="val 5319"/>
            </a:avLst>
          </a:prstGeom>
          <a:solidFill>
            <a:srgbClr val="102B3F"/>
          </a:solidFill>
          <a:ln w="12700">
            <a:solidFill>
              <a:srgbClr val="102B3F"/>
            </a:solidFill>
            <a:prstDash val="solid"/>
          </a:ln>
        </p:spPr>
      </p:sp>
      <p:sp>
        <p:nvSpPr>
          <p:cNvPr id="20" name="Text 18"/>
          <p:cNvSpPr/>
          <p:nvPr/>
        </p:nvSpPr>
        <p:spPr>
          <a:xfrm>
            <a:off x="658368" y="3712464"/>
            <a:ext cx="2606040" cy="164592"/>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NOW</a:t>
            </a:r>
            <a:endParaRPr lang="en-US" sz="1050" dirty="0"/>
          </a:p>
        </p:txBody>
      </p:sp>
      <p:sp>
        <p:nvSpPr>
          <p:cNvPr id="21" name="Text 19"/>
          <p:cNvSpPr/>
          <p:nvPr/>
        </p:nvSpPr>
        <p:spPr>
          <a:xfrm>
            <a:off x="658368" y="3913632"/>
            <a:ext cx="2606040" cy="457200"/>
          </a:xfrm>
          <a:prstGeom prst="rect">
            <a:avLst/>
          </a:prstGeom>
          <a:noFill/>
          <a:ln/>
        </p:spPr>
        <p:txBody>
          <a:bodyPr wrap="square" lIns="0" tIns="0" rIns="0" bIns="0" rtlCol="0" anchor="ctr"/>
          <a:lstStyle/>
          <a:p>
            <a:pPr indent="0" marL="0">
              <a:buNone/>
            </a:pPr>
            <a:r>
              <a:rPr lang="en-US" sz="1200" dirty="0">
                <a:solidFill>
                  <a:srgbClr val="F8FAFC"/>
                </a:solidFill>
                <a:latin typeface="Manrope" pitchFamily="34" charset="0"/>
                <a:ea typeface="Manrope" pitchFamily="34" charset="-122"/>
                <a:cs typeface="Manrope" pitchFamily="34" charset="-120"/>
              </a:rPr>
              <a:t>Now: one guided career-transition sitting.</a:t>
            </a:r>
            <a:endParaRPr lang="en-US" sz="1200" dirty="0"/>
          </a:p>
        </p:txBody>
      </p:sp>
      <p:sp>
        <p:nvSpPr>
          <p:cNvPr id="22" name="Text 20"/>
          <p:cNvSpPr/>
          <p:nvPr/>
        </p:nvSpPr>
        <p:spPr>
          <a:xfrm>
            <a:off x="3401568" y="3712464"/>
            <a:ext cx="2606040" cy="164592"/>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NEXT</a:t>
            </a:r>
            <a:endParaRPr lang="en-US" sz="1050" dirty="0"/>
          </a:p>
        </p:txBody>
      </p:sp>
      <p:sp>
        <p:nvSpPr>
          <p:cNvPr id="23" name="Text 21"/>
          <p:cNvSpPr/>
          <p:nvPr/>
        </p:nvSpPr>
        <p:spPr>
          <a:xfrm>
            <a:off x="3401568" y="3913632"/>
            <a:ext cx="2606040" cy="457200"/>
          </a:xfrm>
          <a:prstGeom prst="rect">
            <a:avLst/>
          </a:prstGeom>
          <a:noFill/>
          <a:ln/>
        </p:spPr>
        <p:txBody>
          <a:bodyPr wrap="square" lIns="0" tIns="0" rIns="0" bIns="0" rtlCol="0" anchor="ctr"/>
          <a:lstStyle/>
          <a:p>
            <a:pPr indent="0" marL="0">
              <a:buNone/>
            </a:pPr>
            <a:r>
              <a:rPr lang="en-US" sz="1200" dirty="0">
                <a:solidFill>
                  <a:srgbClr val="F8FAFC"/>
                </a:solidFill>
                <a:latin typeface="Manrope" pitchFamily="34" charset="0"/>
                <a:ea typeface="Manrope" pitchFamily="34" charset="-122"/>
                <a:cs typeface="Manrope" pitchFamily="34" charset="-120"/>
              </a:rPr>
              <a:t>Next: faster, evidence-led CRM search.</a:t>
            </a:r>
            <a:endParaRPr lang="en-US" sz="1200" dirty="0"/>
          </a:p>
        </p:txBody>
      </p:sp>
      <p:sp>
        <p:nvSpPr>
          <p:cNvPr id="24" name="Text 22"/>
          <p:cNvSpPr/>
          <p:nvPr/>
        </p:nvSpPr>
        <p:spPr>
          <a:xfrm>
            <a:off x="6144768" y="3712464"/>
            <a:ext cx="2606040" cy="164592"/>
          </a:xfrm>
          <a:prstGeom prst="rect">
            <a:avLst/>
          </a:prstGeom>
          <a:noFill/>
          <a:ln/>
        </p:spPr>
        <p:txBody>
          <a:bodyPr wrap="square" lIns="0" tIns="0" rIns="0" bIns="0" rtlCol="0" anchor="ctr"/>
          <a:lstStyle/>
          <a:p>
            <a:pPr indent="0" marL="0">
              <a:buNone/>
            </a:pPr>
            <a:r>
              <a:rPr lang="en-US" sz="1050" b="1" spc="140" kern="0" dirty="0">
                <a:solidFill>
                  <a:srgbClr val="ED6A4A"/>
                </a:solidFill>
                <a:latin typeface="Manrope" pitchFamily="34" charset="0"/>
                <a:ea typeface="Manrope" pitchFamily="34" charset="-122"/>
                <a:cs typeface="Manrope" pitchFamily="34" charset="-120"/>
              </a:rPr>
              <a:t>FUTURE</a:t>
            </a:r>
            <a:endParaRPr lang="en-US" sz="1050" dirty="0"/>
          </a:p>
        </p:txBody>
      </p:sp>
      <p:sp>
        <p:nvSpPr>
          <p:cNvPr id="25" name="Text 23"/>
          <p:cNvSpPr/>
          <p:nvPr/>
        </p:nvSpPr>
        <p:spPr>
          <a:xfrm>
            <a:off x="6144768" y="3913632"/>
            <a:ext cx="2606040" cy="457200"/>
          </a:xfrm>
          <a:prstGeom prst="rect">
            <a:avLst/>
          </a:prstGeom>
          <a:noFill/>
          <a:ln/>
        </p:spPr>
        <p:txBody>
          <a:bodyPr wrap="square" lIns="0" tIns="0" rIns="0" bIns="0" rtlCol="0" anchor="ctr"/>
          <a:lstStyle/>
          <a:p>
            <a:pPr indent="0" marL="0">
              <a:buNone/>
            </a:pPr>
            <a:r>
              <a:rPr lang="en-US" sz="1200" dirty="0">
                <a:solidFill>
                  <a:srgbClr val="F8FAFC"/>
                </a:solidFill>
                <a:latin typeface="Manrope" pitchFamily="34" charset="0"/>
                <a:ea typeface="Manrope" pitchFamily="34" charset="-122"/>
                <a:cs typeface="Manrope" pitchFamily="34" charset="-120"/>
              </a:rPr>
              <a:t>Future: a trusted agent-to-agent recruitment marketplace.</a:t>
            </a:r>
            <a:endParaRPr lang="en-US" sz="1200" dirty="0"/>
          </a:p>
        </p:txBody>
      </p:sp>
      <p:pic>
        <p:nvPicPr>
          <p:cNvPr id="26" name="Image 0" descr="C:\Users\IKARUS\Desktop\CURSOR PROJECTS\skillsatlas_main\scripts\deck\assets\atlas-mark.png">    </p:cNvPr>
          <p:cNvPicPr>
            <a:picLocks noChangeAspect="1"/>
          </p:cNvPicPr>
          <p:nvPr/>
        </p:nvPicPr>
        <p:blipFill>
          <a:blip r:embed="rId1"/>
          <a:stretch>
            <a:fillRect/>
          </a:stretch>
        </p:blipFill>
        <p:spPr>
          <a:xfrm>
            <a:off x="457200" y="4846320"/>
            <a:ext cx="146304" cy="146304"/>
          </a:xfrm>
          <a:prstGeom prst="rect">
            <a:avLst/>
          </a:prstGeom>
        </p:spPr>
      </p:pic>
      <p:sp>
        <p:nvSpPr>
          <p:cNvPr id="27" name="Text 24"/>
          <p:cNvSpPr/>
          <p:nvPr/>
        </p:nvSpPr>
        <p:spPr>
          <a:xfrm>
            <a:off x="658368" y="4864608"/>
            <a:ext cx="2194560" cy="164592"/>
          </a:xfrm>
          <a:prstGeom prst="rect">
            <a:avLst/>
          </a:prstGeom>
          <a:noFill/>
          <a:ln/>
        </p:spPr>
        <p:txBody>
          <a:bodyPr wrap="square" lIns="0" tIns="0" rIns="0" bIns="0" rtlCol="0" anchor="ctr"/>
          <a:lstStyle/>
          <a:p>
            <a:pPr indent="0" marL="0">
              <a:buNone/>
            </a:pPr>
            <a:r>
              <a:rPr lang="en-US" sz="800" b="1" spc="200" kern="0" dirty="0">
                <a:solidFill>
                  <a:srgbClr val="49606D"/>
                </a:solidFill>
                <a:latin typeface="Manrope" pitchFamily="34" charset="0"/>
                <a:ea typeface="Manrope" pitchFamily="34" charset="-122"/>
                <a:cs typeface="Manrope" pitchFamily="34" charset="-120"/>
              </a:rPr>
              <a:t>SKILLSATLAS</a:t>
            </a:r>
            <a:endParaRPr lang="en-US" sz="800" dirty="0"/>
          </a:p>
        </p:txBody>
      </p:sp>
      <p:sp>
        <p:nvSpPr>
          <p:cNvPr id="28" name="Text 25"/>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49606D"/>
                </a:solidFill>
                <a:latin typeface="Manrope" pitchFamily="34" charset="0"/>
                <a:ea typeface="Manrope" pitchFamily="34" charset="-122"/>
                <a:cs typeface="Manrope"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2B3F"/>
        </a:solidFill>
      </p:bgPr>
    </p:bg>
    <p:spTree>
      <p:nvGrpSpPr>
        <p:cNvPr id="1" name=""/>
        <p:cNvGrpSpPr/>
        <p:nvPr/>
      </p:nvGrpSpPr>
      <p:grpSpPr>
        <a:xfrm>
          <a:off x="0" y="0"/>
          <a:ext cx="0" cy="0"/>
          <a:chOff x="0" y="0"/>
          <a:chExt cx="0" cy="0"/>
        </a:xfrm>
      </p:grpSpPr>
      <p:sp>
        <p:nvSpPr>
          <p:cNvPr id="2" name="Text 0"/>
          <p:cNvSpPr/>
          <p:nvPr/>
        </p:nvSpPr>
        <p:spPr>
          <a:xfrm>
            <a:off x="457200" y="530352"/>
            <a:ext cx="2743200" cy="274320"/>
          </a:xfrm>
          <a:prstGeom prst="rect">
            <a:avLst/>
          </a:prstGeom>
          <a:noFill/>
          <a:ln/>
        </p:spPr>
        <p:txBody>
          <a:bodyPr wrap="square" lIns="0" tIns="0" rIns="0" bIns="0" rtlCol="0" anchor="ctr"/>
          <a:lstStyle/>
          <a:p>
            <a:pPr indent="0" marL="0">
              <a:buNone/>
            </a:pPr>
            <a:r>
              <a:rPr lang="en-US" sz="1600" dirty="0">
                <a:solidFill>
                  <a:srgbClr val="F8FAFC"/>
                </a:solidFill>
                <a:latin typeface="DM Serif Display" pitchFamily="34" charset="0"/>
                <a:ea typeface="DM Serif Display" pitchFamily="34" charset="-122"/>
                <a:cs typeface="DM Serif Display" pitchFamily="34" charset="-120"/>
              </a:rPr>
              <a:t>SkillsAtlas</a:t>
            </a:r>
            <a:endParaRPr lang="en-US" sz="1600" dirty="0"/>
          </a:p>
        </p:txBody>
      </p:sp>
      <p:sp>
        <p:nvSpPr>
          <p:cNvPr id="3" name="Text 1"/>
          <p:cNvSpPr/>
          <p:nvPr/>
        </p:nvSpPr>
        <p:spPr>
          <a:xfrm>
            <a:off x="457200" y="1417320"/>
            <a:ext cx="8229600" cy="960120"/>
          </a:xfrm>
          <a:prstGeom prst="rect">
            <a:avLst/>
          </a:prstGeom>
          <a:noFill/>
          <a:ln/>
        </p:spPr>
        <p:txBody>
          <a:bodyPr wrap="square" lIns="0" tIns="0" rIns="0" bIns="0" rtlCol="0" anchor="ctr"/>
          <a:lstStyle/>
          <a:p>
            <a:pPr indent="0" marL="0">
              <a:buNone/>
            </a:pPr>
            <a:r>
              <a:rPr lang="en-US" sz="5600" dirty="0">
                <a:solidFill>
                  <a:srgbClr val="F8FAFC"/>
                </a:solidFill>
                <a:latin typeface="DM Serif Display" pitchFamily="34" charset="0"/>
                <a:ea typeface="DM Serif Display" pitchFamily="34" charset="-122"/>
                <a:cs typeface="DM Serif Display" pitchFamily="34" charset="-120"/>
              </a:rPr>
              <a:t>Thank you.</a:t>
            </a:r>
            <a:endParaRPr lang="en-US" sz="5600" dirty="0"/>
          </a:p>
        </p:txBody>
      </p:sp>
      <p:sp>
        <p:nvSpPr>
          <p:cNvPr id="4" name="Shape 2"/>
          <p:cNvSpPr/>
          <p:nvPr/>
        </p:nvSpPr>
        <p:spPr>
          <a:xfrm>
            <a:off x="457200" y="2542032"/>
            <a:ext cx="2011680" cy="0"/>
          </a:xfrm>
          <a:prstGeom prst="line">
            <a:avLst/>
          </a:prstGeom>
          <a:noFill/>
          <a:ln w="12700">
            <a:solidFill>
              <a:srgbClr val="2A4558"/>
            </a:solidFill>
            <a:prstDash val="solid"/>
          </a:ln>
        </p:spPr>
      </p:sp>
      <p:sp>
        <p:nvSpPr>
          <p:cNvPr id="5" name="Text 3">
            <a:hlinkClick r:id="rId1" tooltip=""/>
          </p:cNvPr>
          <p:cNvSpPr/>
          <p:nvPr/>
        </p:nvSpPr>
        <p:spPr>
          <a:xfrm>
            <a:off x="457200" y="2788920"/>
            <a:ext cx="6400800" cy="384048"/>
          </a:xfrm>
          <a:prstGeom prst="rect">
            <a:avLst/>
          </a:prstGeom>
          <a:noFill/>
          <a:ln/>
        </p:spPr>
        <p:txBody>
          <a:bodyPr wrap="square" lIns="0" tIns="0" rIns="0" bIns="0" rtlCol="0" anchor="ctr"/>
          <a:lstStyle/>
          <a:p>
            <a:pPr indent="0" marL="0">
              <a:buNone/>
            </a:pPr>
            <a:r>
              <a:rPr lang="en-US" sz="2200" u="sng" dirty="0">
                <a:solidFill>
                  <a:srgbClr val="ED6A4A"/>
                </a:solidFill>
                <a:latin typeface="DM Serif Display" pitchFamily="34" charset="0"/>
                <a:ea typeface="DM Serif Display" pitchFamily="34" charset="-122"/>
                <a:cs typeface="DM Serif Display" pitchFamily="34" charset="-120"/>
                <a:hlinkClick r:id="rId1" invalidUrl="" action="" tgtFrame="" tooltip="" history="1" highlightClick="0" endSnd="0">
                  <a:extLst>
                    <a:ext uri="{A12FA001-AC4F-418D-AE19-62706E023703}">
                      <ahyp:hlinkClr xmlns:ahyp="http://schemas.microsoft.com/office/drawing/2018/hyperlinkcolor" val="tx"/>
                    </a:ext>
                  </a:extLst>
                </a:hlinkClick>
              </a:rPr>
              <a:t>skillsatlas.vercel.app</a:t>
            </a:r>
            <a:endParaRPr lang="en-US" sz="2200" dirty="0"/>
          </a:p>
        </p:txBody>
      </p:sp>
      <p:sp>
        <p:nvSpPr>
          <p:cNvPr id="6" name="Text 4">
            <a:hlinkClick r:id="rId2" tooltip=""/>
          </p:cNvPr>
          <p:cNvSpPr/>
          <p:nvPr/>
        </p:nvSpPr>
        <p:spPr>
          <a:xfrm>
            <a:off x="457200" y="3218688"/>
            <a:ext cx="6400800" cy="256032"/>
          </a:xfrm>
          <a:prstGeom prst="rect">
            <a:avLst/>
          </a:prstGeom>
          <a:noFill/>
          <a:ln/>
        </p:spPr>
        <p:txBody>
          <a:bodyPr wrap="square" lIns="0" tIns="0" rIns="0" bIns="0" rtlCol="0" anchor="ctr"/>
          <a:lstStyle/>
          <a:p>
            <a:pPr indent="0" marL="0">
              <a:buNone/>
            </a:pPr>
            <a:r>
              <a:rPr lang="en-US" sz="1300" u="sng" dirty="0">
                <a:solidFill>
                  <a:srgbClr val="A8B4BC"/>
                </a:solidFill>
                <a:latin typeface="Manrope" pitchFamily="34" charset="0"/>
                <a:ea typeface="Manrope" pitchFamily="34" charset="-122"/>
                <a:cs typeface="Manrope" pitchFamily="34" charset="-120"/>
                <a:hlinkClick r:id="rId2" invalidUrl="" action="" tgtFrame="" tooltip="" history="1" highlightClick="0" endSnd="0">
                  <a:extLst>
                    <a:ext uri="{A12FA001-AC4F-418D-AE19-62706E023703}">
                      <ahyp:hlinkClr xmlns:ahyp="http://schemas.microsoft.com/office/drawing/2018/hyperlinkcolor" val="tx"/>
                    </a:ext>
                  </a:extLst>
                </a:hlinkClick>
              </a:rPr>
              <a:t>andrewshche@gmail.com</a:t>
            </a:r>
            <a:endParaRPr lang="en-US" sz="1300" dirty="0"/>
          </a:p>
        </p:txBody>
      </p:sp>
      <p:sp>
        <p:nvSpPr>
          <p:cNvPr id="7" name="Text 5"/>
          <p:cNvSpPr/>
          <p:nvPr/>
        </p:nvSpPr>
        <p:spPr>
          <a:xfrm>
            <a:off x="457200" y="4864608"/>
            <a:ext cx="2194560" cy="164592"/>
          </a:xfrm>
          <a:prstGeom prst="rect">
            <a:avLst/>
          </a:prstGeom>
          <a:noFill/>
          <a:ln/>
        </p:spPr>
        <p:txBody>
          <a:bodyPr wrap="square" lIns="0" tIns="0" rIns="0" bIns="0" rtlCol="0" anchor="ctr"/>
          <a:lstStyle/>
          <a:p>
            <a:pPr indent="0" marL="0">
              <a:buNone/>
            </a:pPr>
            <a:r>
              <a:rPr lang="en-US" sz="800" b="1" spc="200" kern="0" dirty="0">
                <a:solidFill>
                  <a:srgbClr val="A8B4BC"/>
                </a:solidFill>
                <a:latin typeface="Manrope" pitchFamily="34" charset="0"/>
                <a:ea typeface="Manrope" pitchFamily="34" charset="-122"/>
                <a:cs typeface="Manrope" pitchFamily="34" charset="-120"/>
              </a:rPr>
              <a:t>SKILLSATLAS</a:t>
            </a:r>
            <a:endParaRPr lang="en-US" sz="800" dirty="0"/>
          </a:p>
        </p:txBody>
      </p:sp>
      <p:sp>
        <p:nvSpPr>
          <p:cNvPr id="8" name="Text 6"/>
          <p:cNvSpPr/>
          <p:nvPr/>
        </p:nvSpPr>
        <p:spPr>
          <a:xfrm>
            <a:off x="8092440" y="4864608"/>
            <a:ext cx="594360" cy="164592"/>
          </a:xfrm>
          <a:prstGeom prst="rect">
            <a:avLst/>
          </a:prstGeom>
          <a:noFill/>
          <a:ln/>
        </p:spPr>
        <p:txBody>
          <a:bodyPr wrap="square" lIns="0" tIns="0" rIns="0" bIns="0" rtlCol="0" anchor="ctr"/>
          <a:lstStyle/>
          <a:p>
            <a:pPr algn="r" indent="0" marL="0">
              <a:buNone/>
            </a:pPr>
            <a:r>
              <a:rPr lang="en-US" sz="800" dirty="0">
                <a:solidFill>
                  <a:srgbClr val="A8B4BC"/>
                </a:solidFill>
                <a:latin typeface="Manrope" pitchFamily="34" charset="0"/>
                <a:ea typeface="Manrope" pitchFamily="34" charset="-122"/>
                <a:cs typeface="Manrope"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SkillsAtlas — TechIreland Hub Pitch</dc:title>
  <dc:subject>TechIreland National AI Challenge 2026</dc:subject>
  <dc:creator>RedeployMate · SkillsAtlas</dc:creator>
  <cp:lastModifiedBy>RedeployMate · SkillsAtlas</cp:lastModifiedBy>
  <cp:revision>1</cp:revision>
  <dcterms:created xsi:type="dcterms:W3CDTF">2026-09-13T13:22:24Z</dcterms:created>
  <dcterms:modified xsi:type="dcterms:W3CDTF">2026-09-13T13:22:24Z</dcterms:modified>
</cp:coreProperties>
</file>